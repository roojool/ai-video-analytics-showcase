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www.youtube.com/watch?v=0bEGbHb0T4U"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www.youtube.com/watch?v=_epwi9mp8i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hyperlink" Target="https://www.youtube.com/watch?v=eNJyNZDzLI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hyperlink" Target="https://www.youtube.com/watch?v=hUqbbtxr8e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hyperlink" Target="https://www.youtube.com/watch?v=tmpgZZKaT5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hyperlink" Target="https://www.youtube.com/watch?v=Gla20ImaJe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www.youtube.com/watch?v=ij5RFVBtMt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hyperlink" Target="https://www.youtube.com/watch?v=U7zW_LxNss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5bWSiwir0lU"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hyperlink" Target="https://www.youtube.com/watch?v=gZSajFBy3r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hyperlink" Target="https://www.youtube.com/watch?v=RYphFq0-Wso"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hyperlink" Target="https://www.youtube.com/watch?v=J8qbMr9-L3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hyperlink" Target="https://www.youtube.com/watch?v=LnbrwjBYaq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hyperlink" Target="https://www.youtube.com/watch?v=PSx43EjK0C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www.youtube.com/watch?v=nTOKFhM0Fik"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hyperlink" Target="https://www.youtube.com/watch?v=0jKgfpuRY1A"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hyperlink" Target="https://www.youtube.com/watch?v=ucgweAnw0fQ"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hyperlink" Target="https://www.youtube.com/watch?v=f-egY7SsZUI"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hyperlink" Target="https://www.youtube.com/watch?v=Oi9DfQTLHM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hyperlink" Target="https://www.youtube.com/watch?v=FetFl09y3Q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hyperlink" Target="https://www.youtube.com/watch?v=sjGR-y-zm4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fjKLwHxnPHU"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hyperlink" Target="https://www.youtube.com/watch?v=POnW3LvPG1c"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hyperlink" Target="https://www.youtube.com/watch?v=goOfXwgqG3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hyperlink" Target="https://www.youtube.com/watch?v=18aTYzvL9D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hyperlink" Target="https://www.youtube.com/watch?v=QWQctTGYbj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hyperlink" Target="https://www.youtube.com/watch?v=2HVDI0Lr5EA"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hyperlink" Target="https://www.youtube.com/watch?v=HTKbnzz4Ty4"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66960" cy="3291840"/>
          </a:xfrm>
          <a:prstGeom prst="rect">
            <a:avLst/>
          </a:prstGeom>
          <a:noFill/>
        </p:spPr>
        <p:txBody>
          <a:bodyPr wrap="square">
            <a:spAutoFit/>
          </a:bodyPr>
          <a:lstStyle/>
          <a:p>
            <a:pPr>
              <a:spcAft>
                <a:spcPts val="1400"/>
              </a:spcAft>
              <a:defRPr sz="1200" b="1">
                <a:solidFill>
                  <a:srgbClr val="00E5FF"/>
                </a:solidFill>
                <a:latin typeface="Arial"/>
              </a:defRPr>
            </a:pPr>
            <a:r>
              <a:t>INTELLIGENT SURVEILLANCE &amp; VMS TECHNOLOGY RESEARCH</a:t>
            </a:r>
          </a:p>
          <a:p>
            <a:pPr>
              <a:spcAft>
                <a:spcPts val="800"/>
              </a:spcAft>
              <a:defRPr sz="4800" b="1">
                <a:solidFill>
                  <a:srgbClr val="F8FAFC"/>
                </a:solidFill>
                <a:latin typeface="Arial"/>
              </a:defRPr>
            </a:pPr>
            <a:r>
              <a:t>AI Video Analytics</a:t>
            </a:r>
          </a:p>
          <a:p>
            <a:pPr>
              <a:spcAft>
                <a:spcPts val="1200"/>
              </a:spcAft>
              <a:defRPr sz="2200" b="1">
                <a:solidFill>
                  <a:srgbClr val="00E5FF"/>
                </a:solidFill>
                <a:latin typeface="Arial"/>
              </a:defRPr>
            </a:pPr>
            <a:r>
              <a:t>Capabilities, Examples &amp; Demonstrations</a:t>
            </a:r>
          </a:p>
          <a:p>
            <a:pPr>
              <a:spcAft>
                <a:spcPts val="2000"/>
              </a:spcAft>
              <a:defRPr sz="1600">
                <a:solidFill>
                  <a:srgbClr val="94A3B8"/>
                </a:solidFill>
                <a:latin typeface="Calibri"/>
              </a:defRPr>
            </a:pPr>
            <a:r>
              <a:t>AI-powered video intelligence for modern surveillance and security</a:t>
            </a:r>
          </a:p>
        </p:txBody>
      </p:sp>
      <p:sp>
        <p:nvSpPr>
          <p:cNvPr id="5" name="Rounded Rectangle 4"/>
          <p:cNvSpPr/>
          <p:nvPr/>
        </p:nvSpPr>
        <p:spPr>
          <a:xfrm>
            <a:off x="1097280" y="5303520"/>
            <a:ext cx="9966960" cy="7772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8FAFC"/>
                </a:solidFill>
                <a:latin typeface="Arial"/>
              </a:defRPr>
            </a:pPr>
            <a:r>
              <a:t>28 Core Capabilities  •  Verified Real-World Demonstrations  •  Standardized Reference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914400"/>
          </a:xfrm>
          <a:prstGeom prst="rect">
            <a:avLst/>
          </a:prstGeom>
          <a:noFill/>
        </p:spPr>
        <p:txBody>
          <a:bodyPr wrap="square">
            <a:spAutoFit/>
          </a:bodyPr>
          <a:lstStyle/>
          <a:p>
            <a:pPr>
              <a:defRPr sz="1050" b="1">
                <a:solidFill>
                  <a:srgbClr val="00E5FF"/>
                </a:solidFill>
                <a:latin typeface="Arial"/>
              </a:defRPr>
            </a:pPr>
            <a:r>
              <a:t>ANALYTICS OVERVIEW &amp; TAXONOMY</a:t>
            </a:r>
          </a:p>
          <a:p>
            <a:pPr>
              <a:defRPr sz="2400" b="1">
                <a:solidFill>
                  <a:srgbClr val="F8FAFC"/>
                </a:solidFill>
                <a:latin typeface="Arial"/>
              </a:defRPr>
            </a:pPr>
            <a:r>
              <a:t>The 28 Core AI Video Analytics Capabilities by Category</a:t>
            </a:r>
          </a:p>
        </p:txBody>
      </p:sp>
      <p:sp>
        <p:nvSpPr>
          <p:cNvPr id="4" name="Rounded Rectangle 3"/>
          <p:cNvSpPr/>
          <p:nvPr/>
        </p:nvSpPr>
        <p:spPr>
          <a:xfrm>
            <a:off x="731520" y="1371600"/>
            <a:ext cx="2542032" cy="246888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00E5FF"/>
                </a:solidFill>
                <a:latin typeface="Arial"/>
              </a:defRPr>
            </a:pPr>
            <a:r>
              <a:t>1. Detection &amp; Recognition</a:t>
            </a:r>
          </a:p>
          <a:p>
            <a:pPr>
              <a:spcAft>
                <a:spcPts val="150"/>
              </a:spcAft>
              <a:defRPr sz="950">
                <a:solidFill>
                  <a:srgbClr val="F8FAFC"/>
                </a:solidFill>
                <a:latin typeface="Calibri"/>
              </a:defRPr>
            </a:pPr>
            <a:r>
              <a:t>01. Face Detection</a:t>
            </a:r>
          </a:p>
          <a:p>
            <a:pPr>
              <a:spcAft>
                <a:spcPts val="150"/>
              </a:spcAft>
              <a:defRPr sz="950">
                <a:solidFill>
                  <a:srgbClr val="F8FAFC"/>
                </a:solidFill>
                <a:latin typeface="Calibri"/>
              </a:defRPr>
            </a:pPr>
            <a:r>
              <a:t>02. Face Recognition*</a:t>
            </a:r>
          </a:p>
          <a:p>
            <a:pPr>
              <a:spcAft>
                <a:spcPts val="150"/>
              </a:spcAft>
              <a:defRPr sz="950">
                <a:solidFill>
                  <a:srgbClr val="F8FAFC"/>
                </a:solidFill>
                <a:latin typeface="Calibri"/>
              </a:defRPr>
            </a:pPr>
            <a:r>
              <a:t>03. Person Detection</a:t>
            </a:r>
          </a:p>
          <a:p>
            <a:pPr>
              <a:spcAft>
                <a:spcPts val="150"/>
              </a:spcAft>
              <a:defRPr sz="950">
                <a:solidFill>
                  <a:srgbClr val="F8FAFC"/>
                </a:solidFill>
                <a:latin typeface="Calibri"/>
              </a:defRPr>
            </a:pPr>
            <a:r>
              <a:t>04. Vehicle Detection</a:t>
            </a:r>
          </a:p>
          <a:p>
            <a:pPr>
              <a:spcAft>
                <a:spcPts val="150"/>
              </a:spcAft>
              <a:defRPr sz="950">
                <a:solidFill>
                  <a:srgbClr val="F8FAFC"/>
                </a:solidFill>
                <a:latin typeface="Calibri"/>
              </a:defRPr>
            </a:pPr>
            <a:r>
              <a:t>05. Human/Vehicle Classification</a:t>
            </a:r>
          </a:p>
        </p:txBody>
      </p:sp>
      <p:sp>
        <p:nvSpPr>
          <p:cNvPr id="5" name="Rounded Rectangle 4"/>
          <p:cNvSpPr/>
          <p:nvPr/>
        </p:nvSpPr>
        <p:spPr>
          <a:xfrm>
            <a:off x="3456432" y="1371600"/>
            <a:ext cx="2542032" cy="246888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10B981"/>
                </a:solidFill>
                <a:latin typeface="Arial"/>
              </a:defRPr>
            </a:pPr>
            <a:r>
              <a:t>2. Movement &amp; Zone Analytics</a:t>
            </a:r>
          </a:p>
          <a:p>
            <a:pPr>
              <a:spcAft>
                <a:spcPts val="150"/>
              </a:spcAft>
              <a:defRPr sz="950">
                <a:solidFill>
                  <a:srgbClr val="F8FAFC"/>
                </a:solidFill>
                <a:latin typeface="Calibri"/>
              </a:defRPr>
            </a:pPr>
            <a:r>
              <a:t>06. Line Crossing</a:t>
            </a:r>
          </a:p>
          <a:p>
            <a:pPr>
              <a:spcAft>
                <a:spcPts val="150"/>
              </a:spcAft>
              <a:defRPr sz="950">
                <a:solidFill>
                  <a:srgbClr val="F8FAFC"/>
                </a:solidFill>
                <a:latin typeface="Calibri"/>
              </a:defRPr>
            </a:pPr>
            <a:r>
              <a:t>07. Intrusion Detection</a:t>
            </a:r>
          </a:p>
          <a:p>
            <a:pPr>
              <a:spcAft>
                <a:spcPts val="150"/>
              </a:spcAft>
              <a:defRPr sz="950">
                <a:solidFill>
                  <a:srgbClr val="F8FAFC"/>
                </a:solidFill>
                <a:latin typeface="Calibri"/>
              </a:defRPr>
            </a:pPr>
            <a:r>
              <a:t>08. Restricted Area Detection</a:t>
            </a:r>
          </a:p>
          <a:p>
            <a:pPr>
              <a:spcAft>
                <a:spcPts val="150"/>
              </a:spcAft>
              <a:defRPr sz="950">
                <a:solidFill>
                  <a:srgbClr val="F8FAFC"/>
                </a:solidFill>
                <a:latin typeface="Calibri"/>
              </a:defRPr>
            </a:pPr>
            <a:r>
              <a:t>09. Loitering Detection</a:t>
            </a:r>
          </a:p>
          <a:p>
            <a:pPr>
              <a:spcAft>
                <a:spcPts val="150"/>
              </a:spcAft>
              <a:defRPr sz="950">
                <a:solidFill>
                  <a:srgbClr val="F8FAFC"/>
                </a:solidFill>
                <a:latin typeface="Calibri"/>
              </a:defRPr>
            </a:pPr>
            <a:r>
              <a:t>14. Direction Detection</a:t>
            </a:r>
          </a:p>
          <a:p>
            <a:pPr>
              <a:spcAft>
                <a:spcPts val="150"/>
              </a:spcAft>
              <a:defRPr sz="950">
                <a:solidFill>
                  <a:srgbClr val="F8FAFC"/>
                </a:solidFill>
                <a:latin typeface="Calibri"/>
              </a:defRPr>
            </a:pPr>
            <a:r>
              <a:t>15. Wrong-Way Movement Detection</a:t>
            </a:r>
          </a:p>
          <a:p>
            <a:pPr>
              <a:spcAft>
                <a:spcPts val="150"/>
              </a:spcAft>
              <a:defRPr sz="950">
                <a:solidFill>
                  <a:srgbClr val="F8FAFC"/>
                </a:solidFill>
                <a:latin typeface="Calibri"/>
              </a:defRPr>
            </a:pPr>
            <a:r>
              <a:t>24. Perimeter Protection</a:t>
            </a:r>
          </a:p>
        </p:txBody>
      </p:sp>
      <p:sp>
        <p:nvSpPr>
          <p:cNvPr id="6" name="Rounded Rectangle 5"/>
          <p:cNvSpPr/>
          <p:nvPr/>
        </p:nvSpPr>
        <p:spPr>
          <a:xfrm>
            <a:off x="6181344" y="1371600"/>
            <a:ext cx="2542032" cy="246888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A78BFA"/>
                </a:solidFill>
                <a:latin typeface="Arial"/>
              </a:defRPr>
            </a:pPr>
            <a:r>
              <a:t>3. Crowd &amp; Counting Analytics</a:t>
            </a:r>
          </a:p>
          <a:p>
            <a:pPr>
              <a:spcAft>
                <a:spcPts val="150"/>
              </a:spcAft>
              <a:defRPr sz="950">
                <a:solidFill>
                  <a:srgbClr val="F8FAFC"/>
                </a:solidFill>
                <a:latin typeface="Calibri"/>
              </a:defRPr>
            </a:pPr>
            <a:r>
              <a:t>10. Crowd Detection</a:t>
            </a:r>
          </a:p>
          <a:p>
            <a:pPr>
              <a:spcAft>
                <a:spcPts val="150"/>
              </a:spcAft>
              <a:defRPr sz="950">
                <a:solidFill>
                  <a:srgbClr val="F8FAFC"/>
                </a:solidFill>
                <a:latin typeface="Calibri"/>
              </a:defRPr>
            </a:pPr>
            <a:r>
              <a:t>11. Crowd Density Analysis</a:t>
            </a:r>
          </a:p>
          <a:p>
            <a:pPr>
              <a:spcAft>
                <a:spcPts val="150"/>
              </a:spcAft>
              <a:defRPr sz="950">
                <a:solidFill>
                  <a:srgbClr val="F8FAFC"/>
                </a:solidFill>
                <a:latin typeface="Calibri"/>
              </a:defRPr>
            </a:pPr>
            <a:r>
              <a:t>12. People Counting</a:t>
            </a:r>
          </a:p>
          <a:p>
            <a:pPr>
              <a:spcAft>
                <a:spcPts val="150"/>
              </a:spcAft>
              <a:defRPr sz="950">
                <a:solidFill>
                  <a:srgbClr val="F8FAFC"/>
                </a:solidFill>
                <a:latin typeface="Calibri"/>
              </a:defRPr>
            </a:pPr>
            <a:r>
              <a:t>13. Occupancy Counting</a:t>
            </a:r>
          </a:p>
        </p:txBody>
      </p:sp>
      <p:sp>
        <p:nvSpPr>
          <p:cNvPr id="7" name="Rounded Rectangle 6"/>
          <p:cNvSpPr/>
          <p:nvPr/>
        </p:nvSpPr>
        <p:spPr>
          <a:xfrm>
            <a:off x="8906256" y="1371600"/>
            <a:ext cx="2542032" cy="246888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F59E0B"/>
                </a:solidFill>
                <a:latin typeface="Arial"/>
              </a:defRPr>
            </a:pPr>
            <a:r>
              <a:t>4. Object Analytics</a:t>
            </a:r>
          </a:p>
          <a:p>
            <a:pPr>
              <a:spcAft>
                <a:spcPts val="150"/>
              </a:spcAft>
              <a:defRPr sz="950">
                <a:solidFill>
                  <a:srgbClr val="F8FAFC"/>
                </a:solidFill>
                <a:latin typeface="Calibri"/>
              </a:defRPr>
            </a:pPr>
            <a:r>
              <a:t>16. Abandoned Object Detection</a:t>
            </a:r>
          </a:p>
          <a:p>
            <a:pPr>
              <a:spcAft>
                <a:spcPts val="150"/>
              </a:spcAft>
              <a:defRPr sz="950">
                <a:solidFill>
                  <a:srgbClr val="F8FAFC"/>
                </a:solidFill>
                <a:latin typeface="Calibri"/>
              </a:defRPr>
            </a:pPr>
            <a:r>
              <a:t>17. Missing Object Detection</a:t>
            </a:r>
          </a:p>
          <a:p>
            <a:pPr>
              <a:spcAft>
                <a:spcPts val="150"/>
              </a:spcAft>
              <a:defRPr sz="950">
                <a:solidFill>
                  <a:srgbClr val="F8FAFC"/>
                </a:solidFill>
                <a:latin typeface="Calibri"/>
              </a:defRPr>
            </a:pPr>
            <a:r>
              <a:t>18. Object Removal Detection</a:t>
            </a:r>
          </a:p>
          <a:p>
            <a:pPr>
              <a:spcAft>
                <a:spcPts val="150"/>
              </a:spcAft>
              <a:defRPr sz="950">
                <a:solidFill>
                  <a:srgbClr val="F8FAFC"/>
                </a:solidFill>
                <a:latin typeface="Calibri"/>
              </a:defRPr>
            </a:pPr>
            <a:r>
              <a:t>19. Scene Change Detection</a:t>
            </a:r>
          </a:p>
        </p:txBody>
      </p:sp>
      <p:sp>
        <p:nvSpPr>
          <p:cNvPr id="8" name="Rounded Rectangle 7"/>
          <p:cNvSpPr/>
          <p:nvPr/>
        </p:nvSpPr>
        <p:spPr>
          <a:xfrm>
            <a:off x="731520" y="3977639"/>
            <a:ext cx="3447288" cy="233172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F43F5E"/>
                </a:solidFill>
                <a:latin typeface="Arial"/>
              </a:defRPr>
            </a:pPr>
            <a:r>
              <a:t>5. Camera Health &amp; Diagnostics</a:t>
            </a:r>
          </a:p>
          <a:p>
            <a:pPr>
              <a:spcAft>
                <a:spcPts val="200"/>
              </a:spcAft>
              <a:defRPr sz="950">
                <a:solidFill>
                  <a:srgbClr val="F8FAFC"/>
                </a:solidFill>
                <a:latin typeface="Calibri"/>
              </a:defRPr>
            </a:pPr>
            <a:r>
              <a:t>20. Camera Tampering Detection</a:t>
            </a:r>
          </a:p>
          <a:p>
            <a:pPr>
              <a:spcAft>
                <a:spcPts val="200"/>
              </a:spcAft>
              <a:defRPr sz="950">
                <a:solidFill>
                  <a:srgbClr val="F8FAFC"/>
                </a:solidFill>
                <a:latin typeface="Calibri"/>
              </a:defRPr>
            </a:pPr>
            <a:r>
              <a:t>21. Video Loss Detection</a:t>
            </a:r>
          </a:p>
          <a:p>
            <a:pPr>
              <a:spcAft>
                <a:spcPts val="200"/>
              </a:spcAft>
              <a:defRPr sz="950">
                <a:solidFill>
                  <a:srgbClr val="F8FAFC"/>
                </a:solidFill>
                <a:latin typeface="Calibri"/>
              </a:defRPr>
            </a:pPr>
            <a:r>
              <a:t>22. Defocus Detection</a:t>
            </a:r>
          </a:p>
          <a:p>
            <a:pPr>
              <a:spcAft>
                <a:spcPts val="200"/>
              </a:spcAft>
              <a:defRPr sz="950">
                <a:solidFill>
                  <a:srgbClr val="F8FAFC"/>
                </a:solidFill>
                <a:latin typeface="Calibri"/>
              </a:defRPr>
            </a:pPr>
            <a:r>
              <a:t>23. Camera Obstruction Detection</a:t>
            </a:r>
          </a:p>
        </p:txBody>
      </p:sp>
      <p:sp>
        <p:nvSpPr>
          <p:cNvPr id="9" name="Rounded Rectangle 8"/>
          <p:cNvSpPr/>
          <p:nvPr/>
        </p:nvSpPr>
        <p:spPr>
          <a:xfrm>
            <a:off x="4361688" y="3977639"/>
            <a:ext cx="3447288" cy="233172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FB923C"/>
                </a:solidFill>
                <a:latin typeface="Arial"/>
              </a:defRPr>
            </a:pPr>
            <a:r>
              <a:t>6. Safety Analytics</a:t>
            </a:r>
          </a:p>
          <a:p>
            <a:pPr>
              <a:spcAft>
                <a:spcPts val="200"/>
              </a:spcAft>
              <a:defRPr sz="950">
                <a:solidFill>
                  <a:srgbClr val="F8FAFC"/>
                </a:solidFill>
                <a:latin typeface="Calibri"/>
              </a:defRPr>
            </a:pPr>
            <a:r>
              <a:t>25. Fall Detection*</a:t>
            </a:r>
          </a:p>
          <a:p>
            <a:pPr>
              <a:spcAft>
                <a:spcPts val="200"/>
              </a:spcAft>
              <a:defRPr sz="950">
                <a:solidFill>
                  <a:srgbClr val="F8FAFC"/>
                </a:solidFill>
                <a:latin typeface="Calibri"/>
              </a:defRPr>
            </a:pPr>
            <a:r>
              <a:t>26. Fire/Smoke Detection*</a:t>
            </a:r>
          </a:p>
        </p:txBody>
      </p:sp>
      <p:sp>
        <p:nvSpPr>
          <p:cNvPr id="10" name="Rounded Rectangle 9"/>
          <p:cNvSpPr/>
          <p:nvPr/>
        </p:nvSpPr>
        <p:spPr>
          <a:xfrm>
            <a:off x="7991856" y="3977639"/>
            <a:ext cx="3447288" cy="233172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38BDF8"/>
                </a:solidFill>
                <a:latin typeface="Arial"/>
              </a:defRPr>
            </a:pPr>
            <a:r>
              <a:t>7. Tracking &amp; Behaviour</a:t>
            </a:r>
          </a:p>
          <a:p>
            <a:pPr>
              <a:spcAft>
                <a:spcPts val="200"/>
              </a:spcAft>
              <a:defRPr sz="950">
                <a:solidFill>
                  <a:srgbClr val="F8FAFC"/>
                </a:solidFill>
                <a:latin typeface="Calibri"/>
              </a:defRPr>
            </a:pPr>
            <a:r>
              <a:t>27. Vehicle/person tracking</a:t>
            </a:r>
          </a:p>
          <a:p>
            <a:pPr>
              <a:spcAft>
                <a:spcPts val="200"/>
              </a:spcAft>
              <a:defRPr sz="950">
                <a:solidFill>
                  <a:srgbClr val="F8FAFC"/>
                </a:solidFill>
                <a:latin typeface="Calibri"/>
              </a:defRPr>
            </a:pPr>
            <a:r>
              <a:t>28. Behaviour/event-based analytics*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00E5FF"/>
                </a:solidFill>
                <a:latin typeface="Arial"/>
              </a:defRPr>
            </a:pPr>
            <a:r>
              <a:t>DETECTION &amp; RECOGNITION  •  CAPABILITY 01 OF 28</a:t>
            </a:r>
          </a:p>
          <a:p>
            <a:pPr>
              <a:defRPr sz="2300" b="1">
                <a:solidFill>
                  <a:srgbClr val="F8FAFC"/>
                </a:solidFill>
                <a:latin typeface="Arial"/>
              </a:defRPr>
            </a:pPr>
            <a:r>
              <a:t>01. Face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“Detects and pinpoints the presence and location of human faces in a camera's field of view.”</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Scans real-time video frames using deep-learning models to locate human faces, drawing visual bounding boxes and capturing facial crops regardless of facial angle or lighting.</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Face Detection only determines THAT a human face exists and where it is located; it does NOT identify WHO the person is (which is Face Recognition).</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Retail customer engagement, framing subjects, visitor snapshot logs, and entry portal monitoring.</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bEGbHb0T4U.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AXIS COMMUNICATIONS</a:t>
            </a:r>
          </a:p>
          <a:p>
            <a:pPr>
              <a:defRPr sz="1050" b="1">
                <a:solidFill>
                  <a:srgbClr val="F8FAFC"/>
                </a:solidFill>
                <a:latin typeface="Arial"/>
              </a:defRPr>
            </a:pPr>
            <a:r>
              <a:t>AXIS Face Detector - Loss Prevention Demonstration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00E5FF"/>
                </a:solidFill>
                <a:latin typeface="Arial"/>
              </a:defRPr>
            </a:pPr>
            <a:r>
              <a:t>DETECTION &amp; RECOGNITION  •  CAPABILITY 02 OF 28</a:t>
            </a:r>
          </a:p>
          <a:p>
            <a:pPr>
              <a:defRPr sz="2300" b="1">
                <a:solidFill>
                  <a:srgbClr val="F8FAFC"/>
                </a:solidFill>
                <a:latin typeface="Arial"/>
              </a:defRPr>
            </a:pPr>
            <a:r>
              <a:t>02. Face Recognition, where legally authorized</a:t>
            </a:r>
          </a:p>
        </p:txBody>
      </p:sp>
      <p:sp>
        <p:nvSpPr>
          <p:cNvPr id="4" name="Rounded Rectangle 3"/>
          <p:cNvSpPr/>
          <p:nvPr/>
        </p:nvSpPr>
        <p:spPr>
          <a:xfrm>
            <a:off x="731520" y="1207008"/>
            <a:ext cx="10728655" cy="658368"/>
          </a:xfrm>
          <a:prstGeom prst="roundRect">
            <a:avLst/>
          </a:prstGeom>
          <a:solidFill>
            <a:srgbClr val="111827"/>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“Matches detected human faces against an authorized database of known individuals for access control or security alerts.”</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Extracts mathematical biometric feature vectors from facial captures and compares them against pre-enrolled authorized databases to establish identity matches.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Unlike Face Detection (which only locates faces), Face Recognition identifies the specific individual by matching against an enrolled database.</a:t>
            </a:r>
          </a:p>
          <a:p>
            <a:pPr>
              <a:spcAft>
                <a:spcPts val="300"/>
              </a:spcAft>
              <a:defRPr sz="950" b="1">
                <a:solidFill>
                  <a:srgbClr val="94A3B8"/>
                </a:solidFill>
                <a:latin typeface="Arial"/>
              </a:defRPr>
            </a:pPr>
            <a:r>
              <a:t>PRIMARY ENTERPRISE USE CASES</a:t>
            </a:r>
          </a:p>
          <a:p>
            <a:pPr>
              <a:spcAft>
                <a:spcPts val="800"/>
              </a:spcAft>
              <a:defRPr sz="1050">
                <a:solidFill>
                  <a:srgbClr val="F8FAFC"/>
                </a:solidFill>
                <a:latin typeface="Calibri"/>
              </a:defRPr>
            </a:pPr>
            <a:r>
              <a:t>Touchless employee turnstile access, VIP client recognition, and authorized facility security.</a:t>
            </a:r>
          </a:p>
          <a:p>
            <a:pPr>
              <a:spcAft>
                <a:spcPts val="200"/>
              </a:spcAft>
              <a:defRPr sz="900" b="1">
                <a:solidFill>
                  <a:srgbClr val="EF4444"/>
                </a:solidFill>
                <a:latin typeface="Arial"/>
              </a:defRPr>
            </a:pPr>
            <a:r>
              <a:t>LEGAL &amp; COMPLIANCE NOTICE</a:t>
            </a:r>
          </a:p>
          <a:p>
            <a:pPr>
              <a:defRPr sz="950">
                <a:solidFill>
                  <a:srgbClr val="FECACA"/>
                </a:solidFill>
                <a:latin typeface="Calibri"/>
              </a:defRPr>
            </a:pPr>
            <a:r>
              <a:t>Deployment is subject to strict legal, privacy, and regulatory compliance (e.g., GDPR, BIPA, statutory privacy laws). Requires explicit legal authority, consent where mandated, and robust data protection.</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_epwi9mp8is.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HIKVISION UK &amp; IRELAND</a:t>
            </a:r>
          </a:p>
          <a:p>
            <a:pPr>
              <a:defRPr sz="1050" b="1">
                <a:solidFill>
                  <a:srgbClr val="F8FAFC"/>
                </a:solidFill>
                <a:latin typeface="Arial"/>
              </a:defRPr>
            </a:pPr>
            <a:r>
              <a:t>How to Set Up Facial Recognition on HikCentral Professional</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00E5FF"/>
                </a:solidFill>
                <a:latin typeface="Arial"/>
              </a:defRPr>
            </a:pPr>
            <a:r>
              <a:t>DETECTION &amp; RECOGNITION  •  CAPABILITY 03 OF 28</a:t>
            </a:r>
          </a:p>
          <a:p>
            <a:pPr>
              <a:defRPr sz="2300" b="1">
                <a:solidFill>
                  <a:srgbClr val="F8FAFC"/>
                </a:solidFill>
                <a:latin typeface="Arial"/>
              </a:defRPr>
            </a:pPr>
            <a:r>
              <a:t>03. Person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“Identifies and isolates human figures in the video frame, distinguishing people from background objects.”</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Analyzes pixel patterns with neural networks trained on human silhouettes to accurately detect standing, walking, and running individuals across challenging scenes.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Focuses on identifying the full human body, whereas Vehicle Detection targets motor vehicles and Face Detection isolates facial close-ups.</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Perimeter intrusion alerting, construction site safety monitoring, and after-hours intruder alerts.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NJyNZDzLIk.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AXIS TECHNICAL SUPPORT VIDEOS</a:t>
            </a:r>
          </a:p>
          <a:p>
            <a:pPr>
              <a:defRPr sz="1050" b="1">
                <a:solidFill>
                  <a:srgbClr val="F8FAFC"/>
                </a:solidFill>
                <a:latin typeface="Arial"/>
              </a:defRPr>
            </a:pPr>
            <a:r>
              <a:t>Object in Area Scenario: Human Target Detection (AXIS Object Analytics)</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00E5FF"/>
                </a:solidFill>
                <a:latin typeface="Arial"/>
              </a:defRPr>
            </a:pPr>
            <a:r>
              <a:t>DETECTION &amp; RECOGNITION  •  CAPABILITY 04 OF 28</a:t>
            </a:r>
          </a:p>
          <a:p>
            <a:pPr>
              <a:defRPr sz="2300" b="1">
                <a:solidFill>
                  <a:srgbClr val="F8FAFC"/>
                </a:solidFill>
                <a:latin typeface="Arial"/>
              </a:defRPr>
            </a:pPr>
            <a:r>
              <a:t>04. Vehicle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“Identifies motorized vehicles such as cars, trucks, motorcycles, and buses within the camera's view.”</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Recognizes vehicular geometric structures, wheels, and outlines in motion or parked, providing reliable detection across diverse lighting and angles.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Specialized for motor vehicle detection, differentiating motorized transport from pedestrians, animals, or general background motion.</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Parking lot occupancy, automated barrier gates, loading bay oversight, and traffic flow monitoring.</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Uqbbtxr8e4.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AXIS COMMUNICATIONS</a:t>
            </a:r>
          </a:p>
          <a:p>
            <a:pPr>
              <a:defRPr sz="1050" b="1">
                <a:solidFill>
                  <a:srgbClr val="F8FAFC"/>
                </a:solidFill>
                <a:latin typeface="Arial"/>
              </a:defRPr>
            </a:pPr>
            <a:r>
              <a:t>AXIS Object Analytics - Edge AI Vehicle &amp; Object Detection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00E5FF"/>
                </a:solidFill>
                <a:latin typeface="Arial"/>
              </a:defRPr>
            </a:pPr>
            <a:r>
              <a:t>DETECTION &amp; RECOGNITION  •  CAPABILITY 05 OF 28</a:t>
            </a:r>
          </a:p>
          <a:p>
            <a:pPr>
              <a:defRPr sz="2300" b="1">
                <a:solidFill>
                  <a:srgbClr val="F8FAFC"/>
                </a:solidFill>
                <a:latin typeface="Arial"/>
              </a:defRPr>
            </a:pPr>
            <a:r>
              <a:t>05. Human/Vehicle Classification</a:t>
            </a:r>
          </a:p>
        </p:txBody>
      </p:sp>
      <p:sp>
        <p:nvSpPr>
          <p:cNvPr id="4" name="Rounded Rectangle 3"/>
          <p:cNvSpPr/>
          <p:nvPr/>
        </p:nvSpPr>
        <p:spPr>
          <a:xfrm>
            <a:off x="731520" y="1207008"/>
            <a:ext cx="10728655" cy="658368"/>
          </a:xfrm>
          <a:prstGeom prst="roundRect">
            <a:avLst/>
          </a:prstGeom>
          <a:solidFill>
            <a:srgbClr val="111827"/>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“Differentiates whether a detected moving object is a person or a vehicle, filtering out false alarms caused by animals, weather, and foliage.”</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Classifies moving targets specifically into 'human' or 'vehicle' categories, eliminating false alerts triggered by swaying branches, rain, shadows, or wildlife.</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Applies real-time semantic labeling to separate humans and vehicles simultaneously, drastically improving signal-to-noise ratio over raw motion detection.</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Outdoor perimeter fences, critical infrastructure borders, and automated surveillance dispatch.</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mpgZZKaT5E.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BOARDTAC SOLUTIONS (DAHUA AI SYSTEMS)</a:t>
            </a:r>
          </a:p>
          <a:p>
            <a:pPr>
              <a:defRPr sz="1050" b="1">
                <a:solidFill>
                  <a:srgbClr val="F8FAFC"/>
                </a:solidFill>
                <a:latin typeface="Arial"/>
              </a:defRPr>
            </a:pPr>
            <a:r>
              <a:t>Dahua WizSense AI CCTV Explained: How AI Cameras Classify People &amp; Vehicles</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10B981"/>
                </a:solidFill>
                <a:latin typeface="Arial"/>
              </a:defRPr>
            </a:pPr>
            <a:r>
              <a:t>MOVEMENT &amp; ZONE ANALYTICS  •  CAPABILITY 06 OF 28</a:t>
            </a:r>
          </a:p>
          <a:p>
            <a:pPr>
              <a:defRPr sz="2300" b="1">
                <a:solidFill>
                  <a:srgbClr val="F8FAFC"/>
                </a:solidFill>
                <a:latin typeface="Arial"/>
              </a:defRPr>
            </a:pPr>
            <a:r>
              <a:t>06. Line Crossing</a:t>
            </a:r>
          </a:p>
        </p:txBody>
      </p:sp>
      <p:sp>
        <p:nvSpPr>
          <p:cNvPr id="4" name="Rounded Rectangle 3"/>
          <p:cNvSpPr/>
          <p:nvPr/>
        </p:nvSpPr>
        <p:spPr>
          <a:xfrm>
            <a:off x="731520" y="1207008"/>
            <a:ext cx="10728655" cy="658368"/>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“Generates an instant alert when a person or vehicle crosses a predefined virtual tripwire line in a specified direction.”</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Monitors user-configured 2D virtual tripwire vectors across entryways, fence lines, or corridors, triggering alarms when a classified target traverses the line.</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Monitors boundary passage along a 1D vector line; unlike Intrusion Detection, it does not evaluate dwell time inside an enclosed area.</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Property boundary fences, railway platform safety lines, and warehouse loading bay borders.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la20ImaJe0.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AXIS COMMUNICATIONS USA</a:t>
            </a:r>
          </a:p>
          <a:p>
            <a:pPr>
              <a:defRPr sz="1050" b="1">
                <a:solidFill>
                  <a:srgbClr val="F8FAFC"/>
                </a:solidFill>
                <a:latin typeface="Arial"/>
              </a:defRPr>
            </a:pPr>
            <a:r>
              <a:t>AXIS Object Analytics - Virtual Line Crossing Detection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10B981"/>
                </a:solidFill>
                <a:latin typeface="Arial"/>
              </a:defRPr>
            </a:pPr>
            <a:r>
              <a:t>MOVEMENT &amp; ZONE ANALYTICS  •  CAPABILITY 07 OF 28</a:t>
            </a:r>
          </a:p>
          <a:p>
            <a:pPr>
              <a:defRPr sz="2300" b="1">
                <a:solidFill>
                  <a:srgbClr val="F8FAFC"/>
                </a:solidFill>
                <a:latin typeface="Arial"/>
              </a:defRPr>
            </a:pPr>
            <a:r>
              <a:t>07. Intrusion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“Triggers an alarm when an unauthorized subject enters and remains inside a designated virtual zone for a set threshold.”</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Enforces security boundaries across multi-point polygonal zones, alerting operators when a person or vehicle enters the zone and stays beyond a configurable dwell time.</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Intrusion Detection evaluates entry and dwell time inside a 2D polygonal area, unlike Line Crossing which triggers instantly upon crossing a line.</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Securing outdoor storage yards, electrical substation enclosures, and corporate premises after hours.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j5RFVBtMt0.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AXIS TECHNICAL SUPPORT VIDEOS</a:t>
            </a:r>
          </a:p>
          <a:p>
            <a:pPr>
              <a:defRPr sz="1050" b="1">
                <a:solidFill>
                  <a:srgbClr val="F8FAFC"/>
                </a:solidFill>
                <a:latin typeface="Arial"/>
              </a:defRPr>
            </a:pPr>
            <a:r>
              <a:t>Configuration &amp; Demonstration: AXIS Motion Guard Intrusion Detection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10B981"/>
                </a:solidFill>
                <a:latin typeface="Arial"/>
              </a:defRPr>
            </a:pPr>
            <a:r>
              <a:t>MOVEMENT &amp; ZONE ANALYTICS  •  CAPABILITY 08 OF 28</a:t>
            </a:r>
          </a:p>
          <a:p>
            <a:pPr>
              <a:defRPr sz="2300" b="1">
                <a:solidFill>
                  <a:srgbClr val="F8FAFC"/>
                </a:solidFill>
                <a:latin typeface="Arial"/>
              </a:defRPr>
            </a:pPr>
            <a:r>
              <a:t>08. Restricted Area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“Immediately alerts the instant any person or vehicle enters a strictly forbidden, high-security zone.”</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Maintains zero-tolerance no-entry zones around hazardous, high-voltage, or classified assets, initiating immediate lockdown alerts without delay.</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Restricted Area Detection fires immediately upon the slightest boundary breach (zero dwell time tolerance), unlike Intrusion Detection which often uses configurable dwell buffers.</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Airport tarmac runways, pharmaceutical cleanrooms, high-voltage electrical enclosures, and bank vaults.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7zW_LxNssE.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DATEN &amp; WISSEN AI SURVEILLANCE</a:t>
            </a:r>
          </a:p>
          <a:p>
            <a:pPr>
              <a:defRPr sz="1050" b="1">
                <a:solidFill>
                  <a:srgbClr val="F8FAFC"/>
                </a:solidFill>
                <a:latin typeface="Arial"/>
              </a:defRPr>
            </a:pPr>
            <a:r>
              <a:t>AI Real-Time Alerts for Restricted No-Entry Zone Violations</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10B981"/>
                </a:solidFill>
                <a:latin typeface="Arial"/>
              </a:defRPr>
            </a:pPr>
            <a:r>
              <a:t>MOVEMENT &amp; ZONE ANALYTICS  •  CAPABILITY 09 OF 28</a:t>
            </a:r>
          </a:p>
          <a:p>
            <a:pPr>
              <a:defRPr sz="2300" b="1">
                <a:solidFill>
                  <a:srgbClr val="F8FAFC"/>
                </a:solidFill>
                <a:latin typeface="Arial"/>
              </a:defRPr>
            </a:pPr>
            <a:r>
              <a:t>09. Loitering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“Detects when an individual or vehicle lingers or remains stationary in a defined area longer than the permitted time limit.”</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Tracks spatial dwell timers for targets within sensitive areas, triggering an alert only when someone remains in the zone beyond a specified time (e.g., &gt;60 seconds).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Trigger is based strictly on dwell duration rather than mere entry; subjects passing straight through without lingering will not trigger an alarm.</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ATM vestibules, jewelry storefronts, school perimeter perimeters, and unattended transit platforms.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5bWSiwir0lU.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AXIS TECHNICAL SUPPORT VIDEOS</a:t>
            </a:r>
          </a:p>
          <a:p>
            <a:pPr>
              <a:defRPr sz="1050" b="1">
                <a:solidFill>
                  <a:srgbClr val="F8FAFC"/>
                </a:solidFill>
                <a:latin typeface="Arial"/>
              </a:defRPr>
            </a:pPr>
            <a:r>
              <a:t>Detecting Dwell Time &amp; Loitering Using AXIS Object Analytics</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A78BFA"/>
                </a:solidFill>
                <a:latin typeface="Arial"/>
              </a:defRPr>
            </a:pPr>
            <a:r>
              <a:t>CROWD &amp; COUNTING ANALYTICS  •  CAPABILITY 10 OF 28</a:t>
            </a:r>
          </a:p>
          <a:p>
            <a:pPr>
              <a:defRPr sz="2300" b="1">
                <a:solidFill>
                  <a:srgbClr val="F8FAFC"/>
                </a:solidFill>
                <a:latin typeface="Arial"/>
              </a:defRPr>
            </a:pPr>
            <a:r>
              <a:t>10. Crowd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“Identifies when a group of people gathers in a specific area exceeding normal group size or threshold.”</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Analyzes spatial groupings of individuals in real time, alerting control rooms when an abnormal accumulation or sudden gathering of people forms in a monitored zone.</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Crowd Detection flags discrete gathering events or sudden group formations, whereas Crowd Density Analysis continuously measures spatial percentage saturation across a floor.</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Public plazas, concert venue bottlenecks, hospital emergency lobbies, and protest monitoring.</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ZSajFBy3r4.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HIKVISION EUROPE</a:t>
            </a:r>
          </a:p>
          <a:p>
            <a:pPr>
              <a:defRPr sz="1050" b="1">
                <a:solidFill>
                  <a:srgbClr val="F8FAFC"/>
                </a:solidFill>
                <a:latin typeface="Arial"/>
              </a:defRPr>
            </a:pPr>
            <a:r>
              <a:t>People Gathering &amp; Abnormal Crowd Detection Demo</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A78BFA"/>
                </a:solidFill>
                <a:latin typeface="Arial"/>
              </a:defRPr>
            </a:pPr>
            <a:r>
              <a:t>CROWD &amp; COUNTING ANALYTICS  •  CAPABILITY 11 OF 28</a:t>
            </a:r>
          </a:p>
          <a:p>
            <a:pPr>
              <a:defRPr sz="2300" b="1">
                <a:solidFill>
                  <a:srgbClr val="F8FAFC"/>
                </a:solidFill>
                <a:latin typeface="Arial"/>
              </a:defRPr>
            </a:pPr>
            <a:r>
              <a:t>11. Crowd Density Analysis</a:t>
            </a:r>
          </a:p>
        </p:txBody>
      </p:sp>
      <p:sp>
        <p:nvSpPr>
          <p:cNvPr id="4" name="Rounded Rectangle 3"/>
          <p:cNvSpPr/>
          <p:nvPr/>
        </p:nvSpPr>
        <p:spPr>
          <a:xfrm>
            <a:off x="731520" y="1207008"/>
            <a:ext cx="10728655" cy="658368"/>
          </a:xfrm>
          <a:prstGeom prst="roundRect">
            <a:avLst/>
          </a:prstGeom>
          <a:solidFill>
            <a:srgbClr val="111827"/>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“Measures and visualizes the percentage and density of spatial occupancy across an area to prevent dangerous overcrowding.”</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Calculates real-time density heatmaps and occupancy percentages (e.g., persons per square meter) across concourses, warning operators before crowd crushing occurs.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Measures continuous spatial saturation and heat gradients across an entire physical area, unlike Crowd Detection which flags discrete group clusters.</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Metro subway platforms, airport concourses, stadium stairwells, and festival entry gates.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YphFq0-Wso.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BRIEFCAM VIDEO ANALYTICS</a:t>
            </a:r>
          </a:p>
          <a:p>
            <a:pPr>
              <a:defRPr sz="1050" b="1">
                <a:solidFill>
                  <a:srgbClr val="F8FAFC"/>
                </a:solidFill>
                <a:latin typeface="Arial"/>
              </a:defRPr>
            </a:pPr>
            <a:r>
              <a:t>Visualizing &amp; Managing Occupancy and Crowd Density with Video Analytics</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A78BFA"/>
                </a:solidFill>
                <a:latin typeface="Arial"/>
              </a:defRPr>
            </a:pPr>
            <a:r>
              <a:t>CROWD &amp; COUNTING ANALYTICS  •  CAPABILITY 12 OF 28</a:t>
            </a:r>
          </a:p>
          <a:p>
            <a:pPr>
              <a:defRPr sz="2300" b="1">
                <a:solidFill>
                  <a:srgbClr val="F8FAFC"/>
                </a:solidFill>
                <a:latin typeface="Arial"/>
              </a:defRPr>
            </a:pPr>
            <a:r>
              <a:t>12. People Counting</a:t>
            </a:r>
          </a:p>
        </p:txBody>
      </p:sp>
      <p:sp>
        <p:nvSpPr>
          <p:cNvPr id="4" name="Rounded Rectangle 3"/>
          <p:cNvSpPr/>
          <p:nvPr/>
        </p:nvSpPr>
        <p:spPr>
          <a:xfrm>
            <a:off x="731520" y="1207008"/>
            <a:ext cx="10728655" cy="658368"/>
          </a:xfrm>
          <a:prstGeom prst="roundRect">
            <a:avLst/>
          </a:prstGeom>
          <a:solidFill>
            <a:srgbClr val="111827"/>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“Continuously counts the number of people entering, exiting, or passing through a defined entrance or passage.”</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Uses overhead or angled AI cameras to track bidirectional foot traffic across threshold lines, compiling accurate In, Out, and Total pedestrian tallies.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People Counting measures continuous traffic flow and cumulative footfall over time, whereas Occupancy Counting maintains the live net head count inside a space.</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Retail store visitor conversion rates, public transit passenger volume auditing, and building facility planning.</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J8qbMr9-L38.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AXIS COMMUNICATIONS</a:t>
            </a:r>
          </a:p>
          <a:p>
            <a:pPr>
              <a:defRPr sz="1050" b="1">
                <a:solidFill>
                  <a:srgbClr val="F8FAFC"/>
                </a:solidFill>
                <a:latin typeface="Arial"/>
              </a:defRPr>
            </a:pPr>
            <a:r>
              <a:t>AXIS People Counter - Operational Insight Beyond Footfall</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A78BFA"/>
                </a:solidFill>
                <a:latin typeface="Arial"/>
              </a:defRPr>
            </a:pPr>
            <a:r>
              <a:t>CROWD &amp; COUNTING ANALYTICS  •  CAPABILITY 13 OF 28</a:t>
            </a:r>
          </a:p>
          <a:p>
            <a:pPr>
              <a:defRPr sz="2300" b="1">
                <a:solidFill>
                  <a:srgbClr val="F8FAFC"/>
                </a:solidFill>
                <a:latin typeface="Arial"/>
              </a:defRPr>
            </a:pPr>
            <a:r>
              <a:t>13. Occupancy Counting</a:t>
            </a:r>
          </a:p>
        </p:txBody>
      </p:sp>
      <p:sp>
        <p:nvSpPr>
          <p:cNvPr id="4" name="Rounded Rectangle 3"/>
          <p:cNvSpPr/>
          <p:nvPr/>
        </p:nvSpPr>
        <p:spPr>
          <a:xfrm>
            <a:off x="731520" y="1207008"/>
            <a:ext cx="10728655" cy="658368"/>
          </a:xfrm>
          <a:prstGeom prst="roundRect">
            <a:avLst/>
          </a:prstGeom>
          <a:solidFill>
            <a:srgbClr val="111827"/>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“Maintains a live, real-time count of total individuals currently inside a building or enclosed space to enforce capacity limits.”</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Dynamically aggregates entries and exits across all doors (Live Count = Total In − Total Out), driving digital signage and triggering alerts when nearing fire safety limits.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Tracks net concurrent occupants present inside an enclosed facility in real time, unlike People Counting which simply records cumulative transit events.</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Fire safety code enforcement, supermarket capacity control, corporate cafeteria management, and venue safety.</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nbrwjBYaqk.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AXIS COMMUNICATIONS NORTH ASIA</a:t>
            </a:r>
          </a:p>
          <a:p>
            <a:pPr>
              <a:defRPr sz="1050" b="1">
                <a:solidFill>
                  <a:srgbClr val="F8FAFC"/>
                </a:solidFill>
                <a:latin typeface="Arial"/>
              </a:defRPr>
            </a:pPr>
            <a:r>
              <a:t>Real-Time Occupancy Control Solution with AXIS Occupancy Estimator</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10B981"/>
                </a:solidFill>
                <a:latin typeface="Arial"/>
              </a:defRPr>
            </a:pPr>
            <a:r>
              <a:t>MOVEMENT &amp; ZONE ANALYTICS  •  CAPABILITY 14 OF 28</a:t>
            </a:r>
          </a:p>
          <a:p>
            <a:pPr>
              <a:defRPr sz="2300" b="1">
                <a:solidFill>
                  <a:srgbClr val="F8FAFC"/>
                </a:solidFill>
                <a:latin typeface="Arial"/>
              </a:defRPr>
            </a:pPr>
            <a:r>
              <a:t>14. Direction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“Determines and monitors the travel vector of moving pedestrians or vehicles along designated paths.”</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Calculates speed and heading vectors for moving targets, verifying that motion adheres to permitted traffic patterns or designated pedestrian corridors.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Monitors general motion heading and directional distribution; differs from Wrong-Way Detection which functions specifically as an active violation alarm for illegal reverse travel.</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Airport terminal transit corridors, warehouse forklift lanes, and highway traffic flow management.</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Sx43EjK0CY.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HANWHA VISION EUROPE</a:t>
            </a:r>
          </a:p>
          <a:p>
            <a:pPr>
              <a:defRPr sz="1050" b="1">
                <a:solidFill>
                  <a:srgbClr val="F8FAFC"/>
                </a:solidFill>
                <a:latin typeface="Arial"/>
              </a:defRPr>
            </a:pPr>
            <a:r>
              <a:t>Wisenet X Direction Detection Video Analytics Demonstration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10B981"/>
                </a:solidFill>
                <a:latin typeface="Arial"/>
              </a:defRPr>
            </a:pPr>
            <a:r>
              <a:t>MOVEMENT &amp; ZONE ANALYTICS  •  CAPABILITY 15 OF 28</a:t>
            </a:r>
          </a:p>
          <a:p>
            <a:pPr>
              <a:defRPr sz="2300" b="1">
                <a:solidFill>
                  <a:srgbClr val="F8FAFC"/>
                </a:solidFill>
                <a:latin typeface="Arial"/>
              </a:defRPr>
            </a:pPr>
            <a:r>
              <a:t>15. Wrong-Way Movement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“Generates an urgent warning when a vehicle or person travels in reverse or against the mandatory flow of traffic.”</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Enforces strict one-way travel rules on ramps, access lanes, and airport security exits, triggering immediate acoustic or strobe alarms upon reverse traversal.</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An enforcement alarm designed specifically to prevent hazardous reverse travel in one-way corridors, unlike general Direction Detection which observes multi-directional flows.</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Highway exit ramps (wrong-way driver alert), airport one-way security exit gates, and underground parking spirals.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nTOKFhM0Fik.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KEENFINITY GROUP (BOSCH SECURITY)</a:t>
            </a:r>
          </a:p>
          <a:p>
            <a:pPr>
              <a:defRPr sz="1050" b="1">
                <a:solidFill>
                  <a:srgbClr val="F8FAFC"/>
                </a:solidFill>
                <a:latin typeface="Arial"/>
              </a:defRPr>
            </a:pPr>
            <a:r>
              <a:t>Bosch Security - Video Analytics - Wrong-Way Movement Detection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59E0B"/>
                </a:solidFill>
                <a:latin typeface="Arial"/>
              </a:defRPr>
            </a:pPr>
            <a:r>
              <a:t>OBJECT ANALYTICS  •  CAPABILITY 16 OF 28</a:t>
            </a:r>
          </a:p>
          <a:p>
            <a:pPr>
              <a:defRPr sz="2300" b="1">
                <a:solidFill>
                  <a:srgbClr val="F8FAFC"/>
                </a:solidFill>
                <a:latin typeface="Arial"/>
              </a:defRPr>
            </a:pPr>
            <a:r>
              <a:t>16. Abandoned Object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“Flags unattended stationary items, such as bags or boxes, left behind in public areas beyond a set time limit.”</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Detects when an object separates from a human owner and remains stationary in a monitored public space longer than a configured threshold (e.g., 60-120 seconds).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Detects NEW, unapproved stationary objects introduced into a scene; in contrast, Missing Object Detection monitors preexisting registered items that disappear.</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Airport departure halls, train stations, mass transit terminals, and critical government infrastructure.</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jKgfpuRY1A.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SECURITY CAMERA KING</a:t>
            </a:r>
          </a:p>
          <a:p>
            <a:pPr>
              <a:defRPr sz="1050" b="1">
                <a:solidFill>
                  <a:srgbClr val="F8FAFC"/>
                </a:solidFill>
                <a:latin typeface="Arial"/>
              </a:defRPr>
            </a:pPr>
            <a:r>
              <a:t>What is IVS? Abandoned Object Feature Demonstration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59E0B"/>
                </a:solidFill>
                <a:latin typeface="Arial"/>
              </a:defRPr>
            </a:pPr>
            <a:r>
              <a:t>OBJECT ANALYTICS  •  CAPABILITY 17 OF 28</a:t>
            </a:r>
          </a:p>
          <a:p>
            <a:pPr>
              <a:defRPr sz="2300" b="1">
                <a:solidFill>
                  <a:srgbClr val="F8FAFC"/>
                </a:solidFill>
                <a:latin typeface="Arial"/>
              </a:defRPr>
            </a:pPr>
            <a:r>
              <a:t>17. Missing Object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“Alerts security operators immediately when a designated stationary asset or valuable object disappears from its location.”</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Maintains a visual reference profile of a stationary valuable item and raises an alarm when that asset is no longer detected within its defined boundary.</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Monitors the absence or disappearance of an existing monitored asset; differs from Object Removal Detection which actively detects someone physically lifting the item.</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Museum exhibits, retail high-value electronics display counters, warehouse inventory checkpoints, and emergency equipment stations.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cgweAnw0fQ.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DAHUA TECHNOLOGY</a:t>
            </a:r>
          </a:p>
          <a:p>
            <a:pPr>
              <a:defRPr sz="1050" b="1">
                <a:solidFill>
                  <a:srgbClr val="F8FAFC"/>
                </a:solidFill>
                <a:latin typeface="Arial"/>
              </a:defRPr>
            </a:pPr>
            <a:r>
              <a:t>Dahua IVS Missing Object Detection Live Demo</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59E0B"/>
                </a:solidFill>
                <a:latin typeface="Arial"/>
              </a:defRPr>
            </a:pPr>
            <a:r>
              <a:t>OBJECT ANALYTICS  •  CAPABILITY 18 OF 28</a:t>
            </a:r>
          </a:p>
          <a:p>
            <a:pPr>
              <a:defRPr sz="2300" b="1">
                <a:solidFill>
                  <a:srgbClr val="F8FAFC"/>
                </a:solidFill>
                <a:latin typeface="Arial"/>
              </a:defRPr>
            </a:pPr>
            <a:r>
              <a:t>18. Object Removal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“Detects the deliberate physical act of an individual lifting, taking, or removing a protected item from its resting place.”</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Combines human interaction tracking and object state analysis to trigger an alarm the instant a person picks up, dislodges, or removes a protected item from a shelf or pedestal.</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Focuses on the active physical action of theft or lifting in progress, whereas Missing Object Detection alerts on the static state of the item being gone.</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Art gallery protection, luxury retail theft prevention, high-value tool cribs, and pharmacy narcotics cabinets.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egY7SsZUI.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KEENFINITY GROUP (BOSCH SECURITY)</a:t>
            </a:r>
          </a:p>
          <a:p>
            <a:pPr>
              <a:defRPr sz="1050" b="1">
                <a:solidFill>
                  <a:srgbClr val="F8FAFC"/>
                </a:solidFill>
                <a:latin typeface="Arial"/>
              </a:defRPr>
            </a:pPr>
            <a:r>
              <a:t>Bosch Security - Video Analytics - Removed Object Detection Demo</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59E0B"/>
                </a:solidFill>
                <a:latin typeface="Arial"/>
              </a:defRPr>
            </a:pPr>
            <a:r>
              <a:t>OBJECT ANALYTICS  •  CAPABILITY 19 OF 28</a:t>
            </a:r>
          </a:p>
          <a:p>
            <a:pPr>
              <a:defRPr sz="2300" b="1">
                <a:solidFill>
                  <a:srgbClr val="F8FAFC"/>
                </a:solidFill>
                <a:latin typeface="Arial"/>
              </a:defRPr>
            </a:pPr>
            <a:r>
              <a:t>19. Scene Change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“Detects sudden significant changes in the camera's visual background caused by physical rotation, repositioning, or environmental shifts.”</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Compares structural scene histograms and key visual landmarks, alerting operators if the camera has been physically twisted, knocked, or redirected away from its target scene.</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Flags changes where the viewing angle or perspective shifts, unlike Camera Obstruction (where view is blocked) or Defocus (where view is blurry).</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Surveillance system health audits, detecting unauthorized camera realignment, and PTZ preset drift detection.</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i9DfQTLHMA.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SECURITY CAMERA KING</a:t>
            </a:r>
          </a:p>
          <a:p>
            <a:pPr>
              <a:defRPr sz="1050" b="1">
                <a:solidFill>
                  <a:srgbClr val="F8FAFC"/>
                </a:solidFill>
                <a:latin typeface="Arial"/>
              </a:defRPr>
            </a:pPr>
            <a:r>
              <a:t>What is IVS? Scene Change Detection Feature Demonstration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43F5E"/>
                </a:solidFill>
                <a:latin typeface="Arial"/>
              </a:defRPr>
            </a:pPr>
            <a:r>
              <a:t>CAMERA HEALTH  •  CAPABILITY 20 OF 28</a:t>
            </a:r>
          </a:p>
          <a:p>
            <a:pPr>
              <a:defRPr sz="2300" b="1">
                <a:solidFill>
                  <a:srgbClr val="F8FAFC"/>
                </a:solidFill>
                <a:latin typeface="Arial"/>
              </a:defRPr>
            </a:pPr>
            <a:r>
              <a:t>20. Camera Tampering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“Alarms when an attacker attempts to vandalize or incapacitate a camera via spray painting, laser blinding, sudden redirection, or physical impact.”</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Detects malicious physical interventions including harsh camera strikes, spray paint coating, intentional blinding with high-power lights, and sudden harsh rotation.</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An overarching alarm designed to detect malicious human sabotage attempts on the physical camera hardware.</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Correctional facilities, public transit stations, bank exterior walls, and high-crime urban areas.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etFl09y3Qg.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DAVANTIS PERIMETER SECURITY</a:t>
            </a:r>
          </a:p>
          <a:p>
            <a:pPr>
              <a:defRPr sz="1050" b="1">
                <a:solidFill>
                  <a:srgbClr val="F8FAFC"/>
                </a:solidFill>
                <a:latin typeface="Arial"/>
              </a:defRPr>
            </a:pPr>
            <a:r>
              <a:t>Alarm Activation When Detecting Camera Tampering (Perimeter Security)</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43F5E"/>
                </a:solidFill>
                <a:latin typeface="Arial"/>
              </a:defRPr>
            </a:pPr>
            <a:r>
              <a:t>CAMERA HEALTH  •  CAPABILITY 21 OF 28</a:t>
            </a:r>
          </a:p>
          <a:p>
            <a:pPr>
              <a:defRPr sz="2300" b="1">
                <a:solidFill>
                  <a:srgbClr val="F8FAFC"/>
                </a:solidFill>
                <a:latin typeface="Arial"/>
              </a:defRPr>
            </a:pPr>
            <a:r>
              <a:t>21. Video Loss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“Alerts security operators instantly when a camera signal drops, disconnects, or experiences complete transmission failure.”</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Monitors stream continuity and video decoder signals at the VMS or NVR level, sounding an immediate alert if the video feed drops due to cable disconnection, power loss, or network failure.</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Alerts on the total absence or death of the incoming video stream, whereas Tampering, Defocus, and Obstruction occur while the video signal is still streaming.</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Security Operations Centers (SOC), enterprise VMS health monitoring, and regulatory uptime auditing.</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jGR-y-zm4Y.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DAHUA TECHNOLOGY INDIA</a:t>
            </a:r>
          </a:p>
          <a:p>
            <a:pPr>
              <a:defRPr sz="1050" b="1">
                <a:solidFill>
                  <a:srgbClr val="F8FAFC"/>
                </a:solidFill>
                <a:latin typeface="Arial"/>
              </a:defRPr>
            </a:pPr>
            <a:r>
              <a:t>Automated PTZ Tour &amp; Alarm Linkage Triggered on Video Loss</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43F5E"/>
                </a:solidFill>
                <a:latin typeface="Arial"/>
              </a:defRPr>
            </a:pPr>
            <a:r>
              <a:t>CAMERA HEALTH  •  CAPABILITY 22 OF 28</a:t>
            </a:r>
          </a:p>
          <a:p>
            <a:pPr>
              <a:defRPr sz="2300" b="1">
                <a:solidFill>
                  <a:srgbClr val="F8FAFC"/>
                </a:solidFill>
                <a:latin typeface="Arial"/>
              </a:defRPr>
            </a:pPr>
            <a:r>
              <a:t>22. Defocus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“Identifies when a camera's optical focus degrades or blurs, warning operators that image quality has been compromised.”</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Monitors high-frequency image edge sharpness across the visual field and fires a maintenance alert when edge sharpness falls below critical recognition thresholds.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Detects optical blurring and softness; the scene is still visible and illuminated, but out of focus, unlike Obstruction which blocks the visual field.</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Automated maintenance ticketing, ANPR/LPR camera quality assurance, and long-range perimeter optical verification.</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jKLwHxnPHU.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HANWHA VISION AMERICA</a:t>
            </a:r>
          </a:p>
          <a:p>
            <a:pPr>
              <a:defRPr sz="1050" b="1">
                <a:solidFill>
                  <a:srgbClr val="F8FAFC"/>
                </a:solidFill>
                <a:latin typeface="Arial"/>
              </a:defRPr>
            </a:pPr>
            <a:r>
              <a:t>How to Set Up Defocus Detection on Hanwha Vision AI Cameras</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43F5E"/>
                </a:solidFill>
                <a:latin typeface="Arial"/>
              </a:defRPr>
            </a:pPr>
            <a:r>
              <a:t>CAMERA HEALTH  •  CAPABILITY 23 OF 28</a:t>
            </a:r>
          </a:p>
          <a:p>
            <a:pPr>
              <a:defRPr sz="2300" b="1">
                <a:solidFill>
                  <a:srgbClr val="F8FAFC"/>
                </a:solidFill>
                <a:latin typeface="Arial"/>
              </a:defRPr>
            </a:pPr>
            <a:r>
              <a:t>23. Camera Obstruction Detection</a:t>
            </a:r>
          </a:p>
        </p:txBody>
      </p:sp>
      <p:sp>
        <p:nvSpPr>
          <p:cNvPr id="4" name="Rounded Rectangle 3"/>
          <p:cNvSpPr/>
          <p:nvPr/>
        </p:nvSpPr>
        <p:spPr>
          <a:xfrm>
            <a:off x="731520" y="1207008"/>
            <a:ext cx="10728655" cy="658368"/>
          </a:xfrm>
          <a:prstGeom prst="roundRect">
            <a:avLst/>
          </a:prstGeom>
          <a:solidFill>
            <a:srgbClr val="111827"/>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“Detects when a camera's lens is covered, blocked, or obscured by foreign objects, bags, tape, or overgrown foliage.”</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Analyzes sudden loss of visual variation and persistent low-contrast uniform frames to detect foreign physical objects placed directly over or in front of the lens.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Detects physical blocking or masking directly over the front of the lens, whereas Tampering covers physical strikes/vandalism and Defocus covers optical blur.</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Parking garages, building stairwells, ATM security cameras, and outdoor cameras prone to vegetation overgrowth.</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OnW3LvPG1c.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AI-BOT EYE SYSTEMS</a:t>
            </a:r>
          </a:p>
          <a:p>
            <a:pPr>
              <a:defRPr sz="1050" b="1">
                <a:solidFill>
                  <a:srgbClr val="F8FAFC"/>
                </a:solidFill>
                <a:latin typeface="Arial"/>
              </a:defRPr>
            </a:pPr>
            <a:r>
              <a:t>CCTV Camera Tampering &amp; Lens Obstruction Alert Demo</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10B981"/>
                </a:solidFill>
                <a:latin typeface="Arial"/>
              </a:defRPr>
            </a:pPr>
            <a:r>
              <a:t>MOVEMENT &amp; ZONE ANALYTICS  •  CAPABILITY 24 OF 28</a:t>
            </a:r>
          </a:p>
          <a:p>
            <a:pPr>
              <a:defRPr sz="2300" b="1">
                <a:solidFill>
                  <a:srgbClr val="F8FAFC"/>
                </a:solidFill>
                <a:latin typeface="Arial"/>
              </a:defRPr>
            </a:pPr>
            <a:r>
              <a:t>24. Perimeter Protection</a:t>
            </a:r>
          </a:p>
        </p:txBody>
      </p:sp>
      <p:sp>
        <p:nvSpPr>
          <p:cNvPr id="4" name="Rounded Rectangle 3"/>
          <p:cNvSpPr/>
          <p:nvPr/>
        </p:nvSpPr>
        <p:spPr>
          <a:xfrm>
            <a:off x="731520" y="1207008"/>
            <a:ext cx="10728655" cy="658368"/>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“Establishes automated multi-layered virtual boundary security around property borders while filtering out environmental noise.”</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Integrates deep-learning human/vehicle classification with multi-rule tripwires and boundary zones along outer property borders, delivering 24/7 boundary security with near-zero false alarms.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A comprehensive enterprise perimeter solution combining classified targets, directional rules, and boundary fences rather than a single basic line crossing rule.</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Solar energy farms, electrical substations, industrial manufacturing plants, military installations, and critical infrastructure.</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OfXwgqG3Y.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AXIS COMMUNICATIONS</a:t>
            </a:r>
          </a:p>
          <a:p>
            <a:pPr>
              <a:defRPr sz="1050" b="1">
                <a:solidFill>
                  <a:srgbClr val="F8FAFC"/>
                </a:solidFill>
                <a:latin typeface="Arial"/>
              </a:defRPr>
            </a:pPr>
            <a:r>
              <a:t>AXIS Perimeter Defender PTZ Autotracking Demonstration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B923C"/>
                </a:solidFill>
                <a:latin typeface="Arial"/>
              </a:defRPr>
            </a:pPr>
            <a:r>
              <a:t>SAFETY ANALYTICS  •  CAPABILITY 25 OF 28</a:t>
            </a:r>
          </a:p>
          <a:p>
            <a:pPr>
              <a:defRPr sz="2300" b="1">
                <a:solidFill>
                  <a:srgbClr val="F8FAFC"/>
                </a:solidFill>
                <a:latin typeface="Arial"/>
              </a:defRPr>
            </a:pPr>
            <a:r>
              <a:t>25. Fall Detection, where applicable</a:t>
            </a:r>
          </a:p>
        </p:txBody>
      </p:sp>
      <p:sp>
        <p:nvSpPr>
          <p:cNvPr id="4" name="Rounded Rectangle 3"/>
          <p:cNvSpPr/>
          <p:nvPr/>
        </p:nvSpPr>
        <p:spPr>
          <a:xfrm>
            <a:off x="731520" y="1207008"/>
            <a:ext cx="10728655" cy="658368"/>
          </a:xfrm>
          <a:prstGeom prst="roundRect">
            <a:avLst/>
          </a:prstGeom>
          <a:solidFill>
            <a:srgbClr val="111827"/>
          </a:solidFill>
          <a:ln w="254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“Recognizes sudden changes in human posture indicative of a person collapsing or falling down, enabling immediate emergency assistance.”</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Tracks human skeletal pose keypoints and downward velocity vectors in real time, differentiating accidental falls from deliberate sitting or lying down, and raising emergency alarms.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Monitors rapid vertical body collapse and subsequent lack of motion on the floor, unlike loitering or intrusion which monitor horizontal zone presence.</a:t>
            </a:r>
          </a:p>
          <a:p>
            <a:pPr>
              <a:spcAft>
                <a:spcPts val="300"/>
              </a:spcAft>
              <a:defRPr sz="950" b="1">
                <a:solidFill>
                  <a:srgbClr val="94A3B8"/>
                </a:solidFill>
                <a:latin typeface="Arial"/>
              </a:defRPr>
            </a:pPr>
            <a:r>
              <a:t>PRIMARY ENTERPRISE USE CASES</a:t>
            </a:r>
          </a:p>
          <a:p>
            <a:pPr>
              <a:spcAft>
                <a:spcPts val="800"/>
              </a:spcAft>
              <a:defRPr sz="1050">
                <a:solidFill>
                  <a:srgbClr val="F8FAFC"/>
                </a:solidFill>
                <a:latin typeface="Calibri"/>
              </a:defRPr>
            </a:pPr>
            <a:r>
              <a:t>Elderly assisted living facilities, hospital patient rooms, industrial lone-worker zones, and warehouse high-bay racking aisles.</a:t>
            </a:r>
          </a:p>
          <a:p>
            <a:pPr>
              <a:spcAft>
                <a:spcPts val="200"/>
              </a:spcAft>
              <a:defRPr sz="900" b="1">
                <a:solidFill>
                  <a:srgbClr val="EF4444"/>
                </a:solidFill>
                <a:latin typeface="Arial"/>
              </a:defRPr>
            </a:pPr>
            <a:r>
              <a:t>LEGAL &amp; COMPLIANCE NOTICE</a:t>
            </a:r>
          </a:p>
          <a:p>
            <a:pPr>
              <a:defRPr sz="950">
                <a:solidFill>
                  <a:srgbClr val="FECACA"/>
                </a:solidFill>
                <a:latin typeface="Calibri"/>
              </a:defRPr>
            </a:pPr>
            <a:r>
              <a:t>Deployed in healthcare, assisted living, and lone-worker environments; subject to healthcare privacy guidelines and operational applicability.</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8aTYzvL9DA.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HANWHA VISION EUROPE</a:t>
            </a:r>
          </a:p>
          <a:p>
            <a:pPr>
              <a:defRPr sz="1050" b="1">
                <a:solidFill>
                  <a:srgbClr val="F8FAFC"/>
                </a:solidFill>
                <a:latin typeface="Arial"/>
              </a:defRPr>
            </a:pPr>
            <a:r>
              <a:t>Slip &amp; Fall Detection AI Camera Demonstration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FB923C"/>
                </a:solidFill>
                <a:latin typeface="Arial"/>
              </a:defRPr>
            </a:pPr>
            <a:r>
              <a:t>SAFETY ANALYTICS  •  CAPABILITY 26 OF 28</a:t>
            </a:r>
          </a:p>
          <a:p>
            <a:pPr>
              <a:defRPr sz="2300" b="1">
                <a:solidFill>
                  <a:srgbClr val="F8FAFC"/>
                </a:solidFill>
                <a:latin typeface="Arial"/>
              </a:defRPr>
            </a:pPr>
            <a:r>
              <a:t>26. Fire/Smoke Detection, where supported</a:t>
            </a:r>
          </a:p>
        </p:txBody>
      </p:sp>
      <p:sp>
        <p:nvSpPr>
          <p:cNvPr id="4" name="Rounded Rectangle 3"/>
          <p:cNvSpPr/>
          <p:nvPr/>
        </p:nvSpPr>
        <p:spPr>
          <a:xfrm>
            <a:off x="731520" y="1207008"/>
            <a:ext cx="10728655" cy="658368"/>
          </a:xfrm>
          <a:prstGeom prst="roundRect">
            <a:avLst/>
          </a:prstGeom>
          <a:solidFill>
            <a:srgbClr val="111827"/>
          </a:solidFill>
          <a:ln w="254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“Visually detects open flames and developing smoke plumes significantly faster than traditional spot detectors, especially in high-ceiling spaces.”</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Processes optical and thermal video streams using deep learning models that analyze flame flicker frequencies, spectral color distributions, and expanding smoke plume dynamics.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Detects fire and smoke optically at the source within seconds, unlike traditional smoke/heat sensors that require smoke to physically travel up to a ceiling sensor.</a:t>
            </a:r>
          </a:p>
          <a:p>
            <a:pPr>
              <a:spcAft>
                <a:spcPts val="300"/>
              </a:spcAft>
              <a:defRPr sz="950" b="1">
                <a:solidFill>
                  <a:srgbClr val="94A3B8"/>
                </a:solidFill>
                <a:latin typeface="Arial"/>
              </a:defRPr>
            </a:pPr>
            <a:r>
              <a:t>PRIMARY ENTERPRISE USE CASES</a:t>
            </a:r>
          </a:p>
          <a:p>
            <a:pPr>
              <a:spcAft>
                <a:spcPts val="800"/>
              </a:spcAft>
              <a:defRPr sz="1050">
                <a:solidFill>
                  <a:srgbClr val="F8FAFC"/>
                </a:solidFill>
                <a:latin typeface="Calibri"/>
              </a:defRPr>
            </a:pPr>
            <a:r>
              <a:t>Aircraft hangars, high-ceiling logistics warehouses, timber mills, waste recycling plants, and petrochemical refineries.</a:t>
            </a:r>
          </a:p>
          <a:p>
            <a:pPr>
              <a:spcAft>
                <a:spcPts val="200"/>
              </a:spcAft>
              <a:defRPr sz="900" b="1">
                <a:solidFill>
                  <a:srgbClr val="EF4444"/>
                </a:solidFill>
                <a:latin typeface="Arial"/>
              </a:defRPr>
            </a:pPr>
            <a:r>
              <a:t>LEGAL &amp; COMPLIANCE NOTICE</a:t>
            </a:r>
          </a:p>
          <a:p>
            <a:pPr>
              <a:defRPr sz="950">
                <a:solidFill>
                  <a:srgbClr val="FECACA"/>
                </a:solidFill>
                <a:latin typeface="Calibri"/>
              </a:defRPr>
            </a:pPr>
            <a:r>
              <a:t>Serves as an early optical warning system where supported; intended to supplement rather than replace mandatory certified life-safety fire alarm systems.</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WQctTGYbjE.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HIKVISION CORPORATE CHANNEL</a:t>
            </a:r>
          </a:p>
          <a:p>
            <a:pPr>
              <a:defRPr sz="1050" b="1">
                <a:solidFill>
                  <a:srgbClr val="F8FAFC"/>
                </a:solidFill>
                <a:latin typeface="Arial"/>
              </a:defRPr>
            </a:pPr>
            <a:r>
              <a:t>Hikvision Thermal Optical Camera for Rapid Early Fire Detection</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38BDF8"/>
                </a:solidFill>
                <a:latin typeface="Arial"/>
              </a:defRPr>
            </a:pPr>
            <a:r>
              <a:t>TRACKING &amp; BEHAVIOUR  •  CAPABILITY 27 OF 28</a:t>
            </a:r>
          </a:p>
          <a:p>
            <a:pPr>
              <a:defRPr sz="2300" b="1">
                <a:solidFill>
                  <a:srgbClr val="F8FAFC"/>
                </a:solidFill>
                <a:latin typeface="Arial"/>
              </a:defRPr>
            </a:pPr>
            <a:r>
              <a:t>27. Vehicle/person tracking</a:t>
            </a:r>
          </a:p>
        </p:txBody>
      </p:sp>
      <p:sp>
        <p:nvSpPr>
          <p:cNvPr id="4" name="Rounded Rectangle 3"/>
          <p:cNvSpPr/>
          <p:nvPr/>
        </p:nvSpPr>
        <p:spPr>
          <a:xfrm>
            <a:off x="731520" y="1207008"/>
            <a:ext cx="10728655" cy="658368"/>
          </a:xfrm>
          <a:prstGeom prst="roundRect">
            <a:avLst/>
          </a:prstGeom>
          <a:solidFill>
            <a:srgbClr val="111827"/>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“Continuously follows and plots the real-time path of an individual or vehicle across camera fields of view or via motorized PTZ tracking.”</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Assigns and maintains persistent object IDs across sequential frames, automatically steering motorized PTZ cameras to keep targets centered and mapping suspect trajectories across cameras.</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Unlike Person/Vehicle Detection (which identifies objects at an isolated instant), Tracking maintains persistent identity, trajectory, and spatial coordinates over time.</a:t>
            </a:r>
          </a:p>
          <a:p>
            <a:pPr>
              <a:spcAft>
                <a:spcPts val="300"/>
              </a:spcAft>
              <a:defRPr sz="950" b="1">
                <a:solidFill>
                  <a:srgbClr val="94A3B8"/>
                </a:solidFill>
                <a:latin typeface="Arial"/>
              </a:defRPr>
            </a:pPr>
            <a:r>
              <a:t>PRIMARY ENTERPRISE USE CASES</a:t>
            </a:r>
          </a:p>
          <a:p>
            <a:pPr>
              <a:defRPr sz="1050">
                <a:solidFill>
                  <a:srgbClr val="F8FAFC"/>
                </a:solidFill>
                <a:latin typeface="Calibri"/>
              </a:defRPr>
            </a:pPr>
            <a:r>
              <a:t>Automated PTZ tracking of perimeter intruders, forensic suspect journey reconstruction, and airport apron ground vehicle tracking.</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2HVDI0Lr5EA.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HIKVISION MEA</a:t>
            </a:r>
          </a:p>
          <a:p>
            <a:pPr>
              <a:defRPr sz="1050" b="1">
                <a:solidFill>
                  <a:srgbClr val="F8FAFC"/>
                </a:solidFill>
                <a:latin typeface="Arial"/>
              </a:defRPr>
            </a:pPr>
            <a:r>
              <a:t>How to Configure Smart Tracking on PTZ (Human &amp; Vehicle Auto-Tracking)</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00" b="1">
                <a:solidFill>
                  <a:srgbClr val="38BDF8"/>
                </a:solidFill>
                <a:latin typeface="Arial"/>
              </a:defRPr>
            </a:pPr>
            <a:r>
              <a:t>TRACKING &amp; BEHAVIOUR  •  CAPABILITY 28 OF 28</a:t>
            </a:r>
          </a:p>
          <a:p>
            <a:pPr>
              <a:defRPr sz="2300" b="1">
                <a:solidFill>
                  <a:srgbClr val="F8FAFC"/>
                </a:solidFill>
                <a:latin typeface="Arial"/>
              </a:defRPr>
            </a:pPr>
            <a:r>
              <a:t>28. Behaviour/event-based analytics where legally and technically appropriate</a:t>
            </a:r>
          </a:p>
        </p:txBody>
      </p:sp>
      <p:sp>
        <p:nvSpPr>
          <p:cNvPr id="4" name="Rounded Rectangle 3"/>
          <p:cNvSpPr/>
          <p:nvPr/>
        </p:nvSpPr>
        <p:spPr>
          <a:xfrm>
            <a:off x="731520" y="1207008"/>
            <a:ext cx="10728655" cy="658368"/>
          </a:xfrm>
          <a:prstGeom prst="roundRect">
            <a:avLst/>
          </a:prstGeom>
          <a:solidFill>
            <a:srgbClr val="111827"/>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Arial"/>
              </a:defRPr>
            </a:pPr>
            <a:r>
              <a:t>“Detects complex human actions and anomalous security incidents, such as fighting, running, distress gestures, or erratic movements.”</a:t>
            </a:r>
          </a:p>
        </p:txBody>
      </p:sp>
      <p:sp>
        <p:nvSpPr>
          <p:cNvPr id="5" name="Rounded Rectangle 4"/>
          <p:cNvSpPr/>
          <p:nvPr/>
        </p:nvSpPr>
        <p:spPr>
          <a:xfrm>
            <a:off x="731520" y="1993392"/>
            <a:ext cx="5623560"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57984"/>
            <a:ext cx="5221224" cy="4105656"/>
          </a:xfrm>
          <a:prstGeom prst="rect">
            <a:avLst/>
          </a:prstGeom>
          <a:noFill/>
        </p:spPr>
        <p:txBody>
          <a:bodyPr wrap="square">
            <a:spAutoFit/>
          </a:bodyPr>
          <a:lstStyle/>
          <a:p>
            <a:pPr>
              <a:spcAft>
                <a:spcPts val="300"/>
              </a:spcAft>
              <a:defRPr sz="950" b="1">
                <a:solidFill>
                  <a:srgbClr val="00E5FF"/>
                </a:solidFill>
                <a:latin typeface="Arial"/>
              </a:defRPr>
            </a:pPr>
            <a:r>
              <a:t>WHAT IT DETECTS &amp; TECHNICAL OPERATION</a:t>
            </a:r>
          </a:p>
          <a:p>
            <a:pPr>
              <a:spcAft>
                <a:spcPts val="1000"/>
              </a:spcAft>
              <a:defRPr sz="1050">
                <a:solidFill>
                  <a:srgbClr val="F8FAFC"/>
                </a:solidFill>
                <a:latin typeface="Calibri"/>
              </a:defRPr>
            </a:pPr>
            <a:r>
              <a:t>Applies spatio-temporal deep-learning networks to recognize predefined anomalous human behaviors, such as physical fighting, aggressive shoving, running in secured areas, or distress waving.</a:t>
            </a:r>
          </a:p>
          <a:p>
            <a:pPr>
              <a:spcAft>
                <a:spcPts val="300"/>
              </a:spcAft>
              <a:defRPr sz="950" b="1">
                <a:solidFill>
                  <a:srgbClr val="F59E0B"/>
                </a:solidFill>
                <a:latin typeface="Arial"/>
              </a:defRPr>
            </a:pPr>
            <a:r>
              <a:t>KEY ANALYTIC DISTINCTION</a:t>
            </a:r>
          </a:p>
          <a:p>
            <a:pPr>
              <a:spcAft>
                <a:spcPts val="1000"/>
              </a:spcAft>
              <a:defRPr sz="1050">
                <a:solidFill>
                  <a:srgbClr val="FDE68A"/>
                </a:solidFill>
                <a:latin typeface="Calibri"/>
              </a:defRPr>
            </a:pPr>
            <a:r>
              <a:t>Analyzes dynamic human interactions and complex bodily behaviors over time, moving beyond simple presence or object classification into intent and event understanding.</a:t>
            </a:r>
          </a:p>
          <a:p>
            <a:pPr>
              <a:spcAft>
                <a:spcPts val="300"/>
              </a:spcAft>
              <a:defRPr sz="950" b="1">
                <a:solidFill>
                  <a:srgbClr val="94A3B8"/>
                </a:solidFill>
                <a:latin typeface="Arial"/>
              </a:defRPr>
            </a:pPr>
            <a:r>
              <a:t>PRIMARY ENTERPRISE USE CASES</a:t>
            </a:r>
          </a:p>
          <a:p>
            <a:pPr>
              <a:spcAft>
                <a:spcPts val="800"/>
              </a:spcAft>
              <a:defRPr sz="1050">
                <a:solidFill>
                  <a:srgbClr val="F8FAFC"/>
                </a:solidFill>
                <a:latin typeface="Calibri"/>
              </a:defRPr>
            </a:pPr>
            <a:r>
              <a:t>Correctional facilities, public transit platforms, school corridors, entertainment venues, and bank branches.</a:t>
            </a:r>
          </a:p>
          <a:p>
            <a:pPr>
              <a:spcAft>
                <a:spcPts val="200"/>
              </a:spcAft>
              <a:defRPr sz="900" b="1">
                <a:solidFill>
                  <a:srgbClr val="EF4444"/>
                </a:solidFill>
                <a:latin typeface="Arial"/>
              </a:defRPr>
            </a:pPr>
            <a:r>
              <a:t>LEGAL &amp; COMPLIANCE NOTICE</a:t>
            </a:r>
          </a:p>
          <a:p>
            <a:pPr>
              <a:defRPr sz="950">
                <a:solidFill>
                  <a:srgbClr val="FECACA"/>
                </a:solidFill>
                <a:latin typeface="Calibri"/>
              </a:defRPr>
            </a:pPr>
            <a:r>
              <a:t>Deployed where legally and technically appropriate; requires rigorous operational safeguards, algorithmic governance, and privacy compliance.</a:t>
            </a:r>
          </a:p>
        </p:txBody>
      </p:sp>
      <p:sp>
        <p:nvSpPr>
          <p:cNvPr id="7" name="Rounded Rectangle 6"/>
          <p:cNvSpPr/>
          <p:nvPr/>
        </p:nvSpPr>
        <p:spPr>
          <a:xfrm>
            <a:off x="6537960" y="1993392"/>
            <a:ext cx="4922215" cy="443484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TKbnzz4Ty4.jpg">
            <a:hlinkClick r:id="rId3"/>
          </p:cNvPr>
          <p:cNvPicPr>
            <a:picLocks noChangeAspect="1"/>
          </p:cNvPicPr>
          <p:nvPr/>
        </p:nvPicPr>
        <p:blipFill>
          <a:blip r:embed="rId2"/>
          <a:stretch>
            <a:fillRect/>
          </a:stretch>
        </p:blipFill>
        <p:spPr>
          <a:xfrm>
            <a:off x="6720840" y="2176272"/>
            <a:ext cx="4556455" cy="2563005"/>
          </a:xfrm>
          <a:prstGeom prst="rect">
            <a:avLst/>
          </a:prstGeom>
        </p:spPr>
      </p:pic>
      <p:sp>
        <p:nvSpPr>
          <p:cNvPr id="9" name="Rectangle 8"/>
          <p:cNvSpPr/>
          <p:nvPr/>
        </p:nvSpPr>
        <p:spPr>
          <a:xfrm>
            <a:off x="6830568" y="2286000"/>
            <a:ext cx="1234440" cy="274320"/>
          </a:xfrm>
          <a:prstGeom prst="rect">
            <a:avLst/>
          </a:prstGeom>
          <a:solidFill>
            <a:srgbClr val="00000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0E5FF"/>
                </a:solidFill>
                <a:latin typeface="Arial"/>
              </a:defRPr>
            </a:pPr>
            <a:r>
              <a:t>▶ DEMO VIDEO</a:t>
            </a:r>
          </a:p>
        </p:txBody>
      </p:sp>
      <p:sp>
        <p:nvSpPr>
          <p:cNvPr id="10" name="TextBox 9"/>
          <p:cNvSpPr txBox="1"/>
          <p:nvPr/>
        </p:nvSpPr>
        <p:spPr>
          <a:xfrm>
            <a:off x="6720840" y="4830717"/>
            <a:ext cx="4556455" cy="868680"/>
          </a:xfrm>
          <a:prstGeom prst="rect">
            <a:avLst/>
          </a:prstGeom>
          <a:noFill/>
        </p:spPr>
        <p:txBody>
          <a:bodyPr wrap="square">
            <a:spAutoFit/>
          </a:bodyPr>
          <a:lstStyle/>
          <a:p>
            <a:pPr>
              <a:spcAft>
                <a:spcPts val="200"/>
              </a:spcAft>
              <a:defRPr sz="900" b="1">
                <a:solidFill>
                  <a:srgbClr val="00E5FF"/>
                </a:solidFill>
                <a:latin typeface="Arial"/>
              </a:defRPr>
            </a:pPr>
            <a:r>
              <a:t>SOURCE: MILESIGHT SECURITY</a:t>
            </a:r>
          </a:p>
          <a:p>
            <a:pPr>
              <a:defRPr sz="1050" b="1">
                <a:solidFill>
                  <a:srgbClr val="F8FAFC"/>
                </a:solidFill>
                <a:latin typeface="Arial"/>
              </a:defRPr>
            </a:pPr>
            <a:r>
              <a:t>Milesight AI Violence &amp; Abnormal Behavior Detection Demo</a:t>
            </a:r>
          </a:p>
        </p:txBody>
      </p:sp>
      <p:sp>
        <p:nvSpPr>
          <p:cNvPr id="11" name="Rounded Rectangle 10">
            <a:hlinkClick r:id="rId3"/>
          </p:cNvPr>
          <p:cNvSpPr/>
          <p:nvPr/>
        </p:nvSpPr>
        <p:spPr>
          <a:xfrm>
            <a:off x="6720840" y="5806440"/>
            <a:ext cx="4556455" cy="457200"/>
          </a:xfrm>
          <a:prstGeom prst="round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0B14"/>
                </a:solidFill>
                <a:latin typeface="Arial"/>
              </a:defRPr>
            </a:pPr>
            <a:r>
              <a:t>▶  WATCH DEMONSTRATION VIDEO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50" b="1">
                <a:solidFill>
                  <a:srgbClr val="00E5FF"/>
                </a:solidFill>
                <a:latin typeface="Arial"/>
              </a:defRPr>
            </a:pPr>
            <a:r>
              <a:t>CAPABILITY MATRIX  •  PART 1 OF 2</a:t>
            </a:r>
          </a:p>
          <a:p>
            <a:pPr>
              <a:defRPr sz="2200" b="1">
                <a:solidFill>
                  <a:srgbClr val="F8FAFC"/>
                </a:solidFill>
                <a:latin typeface="Arial"/>
              </a:defRPr>
            </a:pPr>
            <a:r>
              <a:t>Core Detection, Movement &amp; Counting Analytics (Capabilities 01 – 14)</a:t>
            </a:r>
          </a:p>
        </p:txBody>
      </p:sp>
      <p:graphicFrame>
        <p:nvGraphicFramePr>
          <p:cNvPr id="4" name="Table 3"/>
          <p:cNvGraphicFramePr>
            <a:graphicFrameLocks noGrp="1"/>
          </p:cNvGraphicFramePr>
          <p:nvPr/>
        </p:nvGraphicFramePr>
        <p:xfrm>
          <a:off x="731520" y="1280160"/>
          <a:ext cx="10728655" cy="5120640"/>
        </p:xfrm>
        <a:graphic>
          <a:graphicData uri="http://schemas.openxmlformats.org/drawingml/2006/table">
            <a:tbl>
              <a:tblPr firstRow="1" bandRow="1">
                <a:tableStyleId>{5C22544A-7EE6-4342-B048-85BDC9FD1C3A}</a:tableStyleId>
              </a:tblPr>
              <a:tblGrid>
                <a:gridCol w="548640"/>
                <a:gridCol w="2926080"/>
                <a:gridCol w="2377440"/>
                <a:gridCol w="4876495"/>
              </a:tblGrid>
              <a:tr h="341376">
                <a:tc>
                  <a:txBody>
                    <a:bodyPr/>
                    <a:lstStyle/>
                    <a:p>
                      <a:pPr>
                        <a:defRPr sz="950" b="1">
                          <a:solidFill>
                            <a:srgbClr val="00E5FF"/>
                          </a:solidFill>
                          <a:latin typeface="Arial"/>
                        </a:defRPr>
                      </a:pPr>
                      <a:r>
                        <a:t>#</a:t>
                      </a:r>
                    </a:p>
                  </a:txBody>
                  <a:tcPr>
                    <a:solidFill>
                      <a:srgbClr val="192238"/>
                    </a:solidFill>
                  </a:tcPr>
                </a:tc>
                <a:tc>
                  <a:txBody>
                    <a:bodyPr/>
                    <a:lstStyle/>
                    <a:p>
                      <a:pPr>
                        <a:defRPr sz="950" b="1">
                          <a:solidFill>
                            <a:srgbClr val="00E5FF"/>
                          </a:solidFill>
                          <a:latin typeface="Arial"/>
                        </a:defRPr>
                      </a:pPr>
                      <a:r>
                        <a:t>Capability Name</a:t>
                      </a:r>
                    </a:p>
                  </a:txBody>
                  <a:tcPr>
                    <a:solidFill>
                      <a:srgbClr val="192238"/>
                    </a:solidFill>
                  </a:tcPr>
                </a:tc>
                <a:tc>
                  <a:txBody>
                    <a:bodyPr/>
                    <a:lstStyle/>
                    <a:p>
                      <a:pPr>
                        <a:defRPr sz="950" b="1">
                          <a:solidFill>
                            <a:srgbClr val="00E5FF"/>
                          </a:solidFill>
                          <a:latin typeface="Arial"/>
                        </a:defRPr>
                      </a:pPr>
                      <a:r>
                        <a:t>Category</a:t>
                      </a:r>
                    </a:p>
                  </a:txBody>
                  <a:tcPr>
                    <a:solidFill>
                      <a:srgbClr val="192238"/>
                    </a:solidFill>
                  </a:tcPr>
                </a:tc>
                <a:tc>
                  <a:txBody>
                    <a:bodyPr/>
                    <a:lstStyle/>
                    <a:p>
                      <a:pPr>
                        <a:defRPr sz="950" b="1">
                          <a:solidFill>
                            <a:srgbClr val="00E5FF"/>
                          </a:solidFill>
                          <a:latin typeface="Arial"/>
                        </a:defRPr>
                      </a:pPr>
                      <a:r>
                        <a:t>Core Function (One-Line Summary)</a:t>
                      </a:r>
                    </a:p>
                  </a:txBody>
                  <a:tcPr>
                    <a:solidFill>
                      <a:srgbClr val="192238"/>
                    </a:solidFill>
                  </a:tcPr>
                </a:tc>
              </a:tr>
              <a:tr h="341376">
                <a:tc>
                  <a:txBody>
                    <a:bodyPr/>
                    <a:lstStyle/>
                    <a:p>
                      <a:pPr>
                        <a:defRPr sz="850">
                          <a:solidFill>
                            <a:srgbClr val="94A3B8"/>
                          </a:solidFill>
                          <a:latin typeface="Calibri"/>
                        </a:defRPr>
                      </a:pPr>
                      <a:r>
                        <a:t>01</a:t>
                      </a:r>
                    </a:p>
                  </a:txBody>
                  <a:tcPr>
                    <a:solidFill>
                      <a:srgbClr val="111827"/>
                    </a:solidFill>
                  </a:tcPr>
                </a:tc>
                <a:tc>
                  <a:txBody>
                    <a:bodyPr/>
                    <a:lstStyle/>
                    <a:p>
                      <a:pPr>
                        <a:defRPr sz="850">
                          <a:solidFill>
                            <a:srgbClr val="F8FAFC"/>
                          </a:solidFill>
                          <a:latin typeface="Calibri"/>
                        </a:defRPr>
                      </a:pPr>
                      <a:r>
                        <a:t>Face Detection</a:t>
                      </a:r>
                    </a:p>
                  </a:txBody>
                  <a:tcPr>
                    <a:solidFill>
                      <a:srgbClr val="111827"/>
                    </a:solidFill>
                  </a:tcPr>
                </a:tc>
                <a:tc>
                  <a:txBody>
                    <a:bodyPr/>
                    <a:lstStyle/>
                    <a:p>
                      <a:pPr>
                        <a:defRPr sz="850">
                          <a:solidFill>
                            <a:srgbClr val="F8FAFC"/>
                          </a:solidFill>
                          <a:latin typeface="Calibri"/>
                        </a:defRPr>
                      </a:pPr>
                      <a:r>
                        <a:t>Detection &amp; Recognition</a:t>
                      </a:r>
                    </a:p>
                  </a:txBody>
                  <a:tcPr>
                    <a:solidFill>
                      <a:srgbClr val="111827"/>
                    </a:solidFill>
                  </a:tcPr>
                </a:tc>
                <a:tc>
                  <a:txBody>
                    <a:bodyPr/>
                    <a:lstStyle/>
                    <a:p>
                      <a:pPr>
                        <a:defRPr sz="850">
                          <a:solidFill>
                            <a:srgbClr val="F8FAFC"/>
                          </a:solidFill>
                          <a:latin typeface="Calibri"/>
                        </a:defRPr>
                      </a:pPr>
                      <a:r>
                        <a:t>Detects and pinpoints the presence and location of human faces in a camera's field of view.</a:t>
                      </a:r>
                    </a:p>
                  </a:txBody>
                  <a:tcPr>
                    <a:solidFill>
                      <a:srgbClr val="111827"/>
                    </a:solidFill>
                  </a:tcPr>
                </a:tc>
              </a:tr>
              <a:tr h="341376">
                <a:tc>
                  <a:txBody>
                    <a:bodyPr/>
                    <a:lstStyle/>
                    <a:p>
                      <a:pPr>
                        <a:defRPr sz="850">
                          <a:solidFill>
                            <a:srgbClr val="94A3B8"/>
                          </a:solidFill>
                          <a:latin typeface="Calibri"/>
                        </a:defRPr>
                      </a:pPr>
                      <a:r>
                        <a:t>02</a:t>
                      </a:r>
                    </a:p>
                  </a:txBody>
                  <a:tcPr>
                    <a:solidFill>
                      <a:srgbClr val="0E1421"/>
                    </a:solidFill>
                  </a:tcPr>
                </a:tc>
                <a:tc>
                  <a:txBody>
                    <a:bodyPr/>
                    <a:lstStyle/>
                    <a:p>
                      <a:pPr>
                        <a:defRPr sz="850">
                          <a:solidFill>
                            <a:srgbClr val="F8FAFC"/>
                          </a:solidFill>
                          <a:latin typeface="Calibri"/>
                        </a:defRPr>
                      </a:pPr>
                      <a:r>
                        <a:t>Face Recognition, where legally authorized</a:t>
                      </a:r>
                    </a:p>
                  </a:txBody>
                  <a:tcPr>
                    <a:solidFill>
                      <a:srgbClr val="0E1421"/>
                    </a:solidFill>
                  </a:tcPr>
                </a:tc>
                <a:tc>
                  <a:txBody>
                    <a:bodyPr/>
                    <a:lstStyle/>
                    <a:p>
                      <a:pPr>
                        <a:defRPr sz="850">
                          <a:solidFill>
                            <a:srgbClr val="F8FAFC"/>
                          </a:solidFill>
                          <a:latin typeface="Calibri"/>
                        </a:defRPr>
                      </a:pPr>
                      <a:r>
                        <a:t>Detection &amp; Recognition</a:t>
                      </a:r>
                    </a:p>
                  </a:txBody>
                  <a:tcPr>
                    <a:solidFill>
                      <a:srgbClr val="0E1421"/>
                    </a:solidFill>
                  </a:tcPr>
                </a:tc>
                <a:tc>
                  <a:txBody>
                    <a:bodyPr/>
                    <a:lstStyle/>
                    <a:p>
                      <a:pPr>
                        <a:defRPr sz="850">
                          <a:solidFill>
                            <a:srgbClr val="F8FAFC"/>
                          </a:solidFill>
                          <a:latin typeface="Calibri"/>
                        </a:defRPr>
                      </a:pPr>
                      <a:r>
                        <a:t>Matches detected human faces against an authorized database of known individuals for access control or security alerts.</a:t>
                      </a:r>
                    </a:p>
                  </a:txBody>
                  <a:tcPr>
                    <a:solidFill>
                      <a:srgbClr val="0E1421"/>
                    </a:solidFill>
                  </a:tcPr>
                </a:tc>
              </a:tr>
              <a:tr h="341376">
                <a:tc>
                  <a:txBody>
                    <a:bodyPr/>
                    <a:lstStyle/>
                    <a:p>
                      <a:pPr>
                        <a:defRPr sz="850">
                          <a:solidFill>
                            <a:srgbClr val="94A3B8"/>
                          </a:solidFill>
                          <a:latin typeface="Calibri"/>
                        </a:defRPr>
                      </a:pPr>
                      <a:r>
                        <a:t>03</a:t>
                      </a:r>
                    </a:p>
                  </a:txBody>
                  <a:tcPr>
                    <a:solidFill>
                      <a:srgbClr val="111827"/>
                    </a:solidFill>
                  </a:tcPr>
                </a:tc>
                <a:tc>
                  <a:txBody>
                    <a:bodyPr/>
                    <a:lstStyle/>
                    <a:p>
                      <a:pPr>
                        <a:defRPr sz="850">
                          <a:solidFill>
                            <a:srgbClr val="F8FAFC"/>
                          </a:solidFill>
                          <a:latin typeface="Calibri"/>
                        </a:defRPr>
                      </a:pPr>
                      <a:r>
                        <a:t>Person Detection</a:t>
                      </a:r>
                    </a:p>
                  </a:txBody>
                  <a:tcPr>
                    <a:solidFill>
                      <a:srgbClr val="111827"/>
                    </a:solidFill>
                  </a:tcPr>
                </a:tc>
                <a:tc>
                  <a:txBody>
                    <a:bodyPr/>
                    <a:lstStyle/>
                    <a:p>
                      <a:pPr>
                        <a:defRPr sz="850">
                          <a:solidFill>
                            <a:srgbClr val="F8FAFC"/>
                          </a:solidFill>
                          <a:latin typeface="Calibri"/>
                        </a:defRPr>
                      </a:pPr>
                      <a:r>
                        <a:t>Detection &amp; Recognition</a:t>
                      </a:r>
                    </a:p>
                  </a:txBody>
                  <a:tcPr>
                    <a:solidFill>
                      <a:srgbClr val="111827"/>
                    </a:solidFill>
                  </a:tcPr>
                </a:tc>
                <a:tc>
                  <a:txBody>
                    <a:bodyPr/>
                    <a:lstStyle/>
                    <a:p>
                      <a:pPr>
                        <a:defRPr sz="850">
                          <a:solidFill>
                            <a:srgbClr val="F8FAFC"/>
                          </a:solidFill>
                          <a:latin typeface="Calibri"/>
                        </a:defRPr>
                      </a:pPr>
                      <a:r>
                        <a:t>Identifies and isolates human figures in the video frame, distinguishing people from background objects.</a:t>
                      </a:r>
                    </a:p>
                  </a:txBody>
                  <a:tcPr>
                    <a:solidFill>
                      <a:srgbClr val="111827"/>
                    </a:solidFill>
                  </a:tcPr>
                </a:tc>
              </a:tr>
              <a:tr h="341376">
                <a:tc>
                  <a:txBody>
                    <a:bodyPr/>
                    <a:lstStyle/>
                    <a:p>
                      <a:pPr>
                        <a:defRPr sz="850">
                          <a:solidFill>
                            <a:srgbClr val="94A3B8"/>
                          </a:solidFill>
                          <a:latin typeface="Calibri"/>
                        </a:defRPr>
                      </a:pPr>
                      <a:r>
                        <a:t>04</a:t>
                      </a:r>
                    </a:p>
                  </a:txBody>
                  <a:tcPr>
                    <a:solidFill>
                      <a:srgbClr val="0E1421"/>
                    </a:solidFill>
                  </a:tcPr>
                </a:tc>
                <a:tc>
                  <a:txBody>
                    <a:bodyPr/>
                    <a:lstStyle/>
                    <a:p>
                      <a:pPr>
                        <a:defRPr sz="850">
                          <a:solidFill>
                            <a:srgbClr val="F8FAFC"/>
                          </a:solidFill>
                          <a:latin typeface="Calibri"/>
                        </a:defRPr>
                      </a:pPr>
                      <a:r>
                        <a:t>Vehicle Detection</a:t>
                      </a:r>
                    </a:p>
                  </a:txBody>
                  <a:tcPr>
                    <a:solidFill>
                      <a:srgbClr val="0E1421"/>
                    </a:solidFill>
                  </a:tcPr>
                </a:tc>
                <a:tc>
                  <a:txBody>
                    <a:bodyPr/>
                    <a:lstStyle/>
                    <a:p>
                      <a:pPr>
                        <a:defRPr sz="850">
                          <a:solidFill>
                            <a:srgbClr val="F8FAFC"/>
                          </a:solidFill>
                          <a:latin typeface="Calibri"/>
                        </a:defRPr>
                      </a:pPr>
                      <a:r>
                        <a:t>Detection &amp; Recognition</a:t>
                      </a:r>
                    </a:p>
                  </a:txBody>
                  <a:tcPr>
                    <a:solidFill>
                      <a:srgbClr val="0E1421"/>
                    </a:solidFill>
                  </a:tcPr>
                </a:tc>
                <a:tc>
                  <a:txBody>
                    <a:bodyPr/>
                    <a:lstStyle/>
                    <a:p>
                      <a:pPr>
                        <a:defRPr sz="850">
                          <a:solidFill>
                            <a:srgbClr val="F8FAFC"/>
                          </a:solidFill>
                          <a:latin typeface="Calibri"/>
                        </a:defRPr>
                      </a:pPr>
                      <a:r>
                        <a:t>Identifies motorized vehicles such as cars, trucks, motorcycles, and buses within the camera's view.</a:t>
                      </a:r>
                    </a:p>
                  </a:txBody>
                  <a:tcPr>
                    <a:solidFill>
                      <a:srgbClr val="0E1421"/>
                    </a:solidFill>
                  </a:tcPr>
                </a:tc>
              </a:tr>
              <a:tr h="341376">
                <a:tc>
                  <a:txBody>
                    <a:bodyPr/>
                    <a:lstStyle/>
                    <a:p>
                      <a:pPr>
                        <a:defRPr sz="850">
                          <a:solidFill>
                            <a:srgbClr val="94A3B8"/>
                          </a:solidFill>
                          <a:latin typeface="Calibri"/>
                        </a:defRPr>
                      </a:pPr>
                      <a:r>
                        <a:t>05</a:t>
                      </a:r>
                    </a:p>
                  </a:txBody>
                  <a:tcPr>
                    <a:solidFill>
                      <a:srgbClr val="111827"/>
                    </a:solidFill>
                  </a:tcPr>
                </a:tc>
                <a:tc>
                  <a:txBody>
                    <a:bodyPr/>
                    <a:lstStyle/>
                    <a:p>
                      <a:pPr>
                        <a:defRPr sz="850">
                          <a:solidFill>
                            <a:srgbClr val="F8FAFC"/>
                          </a:solidFill>
                          <a:latin typeface="Calibri"/>
                        </a:defRPr>
                      </a:pPr>
                      <a:r>
                        <a:t>Human/Vehicle Classification</a:t>
                      </a:r>
                    </a:p>
                  </a:txBody>
                  <a:tcPr>
                    <a:solidFill>
                      <a:srgbClr val="111827"/>
                    </a:solidFill>
                  </a:tcPr>
                </a:tc>
                <a:tc>
                  <a:txBody>
                    <a:bodyPr/>
                    <a:lstStyle/>
                    <a:p>
                      <a:pPr>
                        <a:defRPr sz="850">
                          <a:solidFill>
                            <a:srgbClr val="F8FAFC"/>
                          </a:solidFill>
                          <a:latin typeface="Calibri"/>
                        </a:defRPr>
                      </a:pPr>
                      <a:r>
                        <a:t>Detection &amp; Recognition</a:t>
                      </a:r>
                    </a:p>
                  </a:txBody>
                  <a:tcPr>
                    <a:solidFill>
                      <a:srgbClr val="111827"/>
                    </a:solidFill>
                  </a:tcPr>
                </a:tc>
                <a:tc>
                  <a:txBody>
                    <a:bodyPr/>
                    <a:lstStyle/>
                    <a:p>
                      <a:pPr>
                        <a:defRPr sz="850">
                          <a:solidFill>
                            <a:srgbClr val="F8FAFC"/>
                          </a:solidFill>
                          <a:latin typeface="Calibri"/>
                        </a:defRPr>
                      </a:pPr>
                      <a:r>
                        <a:t>Differentiates whether a detected moving object is a person or a vehicle, filtering out false alarms caused by animals, weather, and foliage.</a:t>
                      </a:r>
                    </a:p>
                  </a:txBody>
                  <a:tcPr>
                    <a:solidFill>
                      <a:srgbClr val="111827"/>
                    </a:solidFill>
                  </a:tcPr>
                </a:tc>
              </a:tr>
              <a:tr h="341376">
                <a:tc>
                  <a:txBody>
                    <a:bodyPr/>
                    <a:lstStyle/>
                    <a:p>
                      <a:pPr>
                        <a:defRPr sz="850">
                          <a:solidFill>
                            <a:srgbClr val="94A3B8"/>
                          </a:solidFill>
                          <a:latin typeface="Calibri"/>
                        </a:defRPr>
                      </a:pPr>
                      <a:r>
                        <a:t>06</a:t>
                      </a:r>
                    </a:p>
                  </a:txBody>
                  <a:tcPr>
                    <a:solidFill>
                      <a:srgbClr val="0E1421"/>
                    </a:solidFill>
                  </a:tcPr>
                </a:tc>
                <a:tc>
                  <a:txBody>
                    <a:bodyPr/>
                    <a:lstStyle/>
                    <a:p>
                      <a:pPr>
                        <a:defRPr sz="850">
                          <a:solidFill>
                            <a:srgbClr val="F8FAFC"/>
                          </a:solidFill>
                          <a:latin typeface="Calibri"/>
                        </a:defRPr>
                      </a:pPr>
                      <a:r>
                        <a:t>Line Crossing</a:t>
                      </a:r>
                    </a:p>
                  </a:txBody>
                  <a:tcPr>
                    <a:solidFill>
                      <a:srgbClr val="0E1421"/>
                    </a:solidFill>
                  </a:tcPr>
                </a:tc>
                <a:tc>
                  <a:txBody>
                    <a:bodyPr/>
                    <a:lstStyle/>
                    <a:p>
                      <a:pPr>
                        <a:defRPr sz="850">
                          <a:solidFill>
                            <a:srgbClr val="F8FAFC"/>
                          </a:solidFill>
                          <a:latin typeface="Calibri"/>
                        </a:defRPr>
                      </a:pPr>
                      <a:r>
                        <a:t>Movement &amp; Zone Analytics</a:t>
                      </a:r>
                    </a:p>
                  </a:txBody>
                  <a:tcPr>
                    <a:solidFill>
                      <a:srgbClr val="0E1421"/>
                    </a:solidFill>
                  </a:tcPr>
                </a:tc>
                <a:tc>
                  <a:txBody>
                    <a:bodyPr/>
                    <a:lstStyle/>
                    <a:p>
                      <a:pPr>
                        <a:defRPr sz="850">
                          <a:solidFill>
                            <a:srgbClr val="F8FAFC"/>
                          </a:solidFill>
                          <a:latin typeface="Calibri"/>
                        </a:defRPr>
                      </a:pPr>
                      <a:r>
                        <a:t>Generates an instant alert when a person or vehicle crosses a predefined virtual tripwire line in a specified direction.</a:t>
                      </a:r>
                    </a:p>
                  </a:txBody>
                  <a:tcPr>
                    <a:solidFill>
                      <a:srgbClr val="0E1421"/>
                    </a:solidFill>
                  </a:tcPr>
                </a:tc>
              </a:tr>
              <a:tr h="341376">
                <a:tc>
                  <a:txBody>
                    <a:bodyPr/>
                    <a:lstStyle/>
                    <a:p>
                      <a:pPr>
                        <a:defRPr sz="850">
                          <a:solidFill>
                            <a:srgbClr val="94A3B8"/>
                          </a:solidFill>
                          <a:latin typeface="Calibri"/>
                        </a:defRPr>
                      </a:pPr>
                      <a:r>
                        <a:t>07</a:t>
                      </a:r>
                    </a:p>
                  </a:txBody>
                  <a:tcPr>
                    <a:solidFill>
                      <a:srgbClr val="111827"/>
                    </a:solidFill>
                  </a:tcPr>
                </a:tc>
                <a:tc>
                  <a:txBody>
                    <a:bodyPr/>
                    <a:lstStyle/>
                    <a:p>
                      <a:pPr>
                        <a:defRPr sz="850">
                          <a:solidFill>
                            <a:srgbClr val="F8FAFC"/>
                          </a:solidFill>
                          <a:latin typeface="Calibri"/>
                        </a:defRPr>
                      </a:pPr>
                      <a:r>
                        <a:t>Intrusion Detection</a:t>
                      </a:r>
                    </a:p>
                  </a:txBody>
                  <a:tcPr>
                    <a:solidFill>
                      <a:srgbClr val="111827"/>
                    </a:solidFill>
                  </a:tcPr>
                </a:tc>
                <a:tc>
                  <a:txBody>
                    <a:bodyPr/>
                    <a:lstStyle/>
                    <a:p>
                      <a:pPr>
                        <a:defRPr sz="850">
                          <a:solidFill>
                            <a:srgbClr val="F8FAFC"/>
                          </a:solidFill>
                          <a:latin typeface="Calibri"/>
                        </a:defRPr>
                      </a:pPr>
                      <a:r>
                        <a:t>Movement &amp; Zone Analytics</a:t>
                      </a:r>
                    </a:p>
                  </a:txBody>
                  <a:tcPr>
                    <a:solidFill>
                      <a:srgbClr val="111827"/>
                    </a:solidFill>
                  </a:tcPr>
                </a:tc>
                <a:tc>
                  <a:txBody>
                    <a:bodyPr/>
                    <a:lstStyle/>
                    <a:p>
                      <a:pPr>
                        <a:defRPr sz="850">
                          <a:solidFill>
                            <a:srgbClr val="F8FAFC"/>
                          </a:solidFill>
                          <a:latin typeface="Calibri"/>
                        </a:defRPr>
                      </a:pPr>
                      <a:r>
                        <a:t>Triggers an alarm when an unauthorized subject enters and remains inside a designated virtual zone for a set threshold.</a:t>
                      </a:r>
                    </a:p>
                  </a:txBody>
                  <a:tcPr>
                    <a:solidFill>
                      <a:srgbClr val="111827"/>
                    </a:solidFill>
                  </a:tcPr>
                </a:tc>
              </a:tr>
              <a:tr h="341376">
                <a:tc>
                  <a:txBody>
                    <a:bodyPr/>
                    <a:lstStyle/>
                    <a:p>
                      <a:pPr>
                        <a:defRPr sz="850">
                          <a:solidFill>
                            <a:srgbClr val="94A3B8"/>
                          </a:solidFill>
                          <a:latin typeface="Calibri"/>
                        </a:defRPr>
                      </a:pPr>
                      <a:r>
                        <a:t>08</a:t>
                      </a:r>
                    </a:p>
                  </a:txBody>
                  <a:tcPr>
                    <a:solidFill>
                      <a:srgbClr val="0E1421"/>
                    </a:solidFill>
                  </a:tcPr>
                </a:tc>
                <a:tc>
                  <a:txBody>
                    <a:bodyPr/>
                    <a:lstStyle/>
                    <a:p>
                      <a:pPr>
                        <a:defRPr sz="850">
                          <a:solidFill>
                            <a:srgbClr val="F8FAFC"/>
                          </a:solidFill>
                          <a:latin typeface="Calibri"/>
                        </a:defRPr>
                      </a:pPr>
                      <a:r>
                        <a:t>Restricted Area Detection</a:t>
                      </a:r>
                    </a:p>
                  </a:txBody>
                  <a:tcPr>
                    <a:solidFill>
                      <a:srgbClr val="0E1421"/>
                    </a:solidFill>
                  </a:tcPr>
                </a:tc>
                <a:tc>
                  <a:txBody>
                    <a:bodyPr/>
                    <a:lstStyle/>
                    <a:p>
                      <a:pPr>
                        <a:defRPr sz="850">
                          <a:solidFill>
                            <a:srgbClr val="F8FAFC"/>
                          </a:solidFill>
                          <a:latin typeface="Calibri"/>
                        </a:defRPr>
                      </a:pPr>
                      <a:r>
                        <a:t>Movement &amp; Zone Analytics</a:t>
                      </a:r>
                    </a:p>
                  </a:txBody>
                  <a:tcPr>
                    <a:solidFill>
                      <a:srgbClr val="0E1421"/>
                    </a:solidFill>
                  </a:tcPr>
                </a:tc>
                <a:tc>
                  <a:txBody>
                    <a:bodyPr/>
                    <a:lstStyle/>
                    <a:p>
                      <a:pPr>
                        <a:defRPr sz="850">
                          <a:solidFill>
                            <a:srgbClr val="F8FAFC"/>
                          </a:solidFill>
                          <a:latin typeface="Calibri"/>
                        </a:defRPr>
                      </a:pPr>
                      <a:r>
                        <a:t>Immediately alerts the instant any person or vehicle enters a strictly forbidden, high-security zone.</a:t>
                      </a:r>
                    </a:p>
                  </a:txBody>
                  <a:tcPr>
                    <a:solidFill>
                      <a:srgbClr val="0E1421"/>
                    </a:solidFill>
                  </a:tcPr>
                </a:tc>
              </a:tr>
              <a:tr h="341376">
                <a:tc>
                  <a:txBody>
                    <a:bodyPr/>
                    <a:lstStyle/>
                    <a:p>
                      <a:pPr>
                        <a:defRPr sz="850">
                          <a:solidFill>
                            <a:srgbClr val="94A3B8"/>
                          </a:solidFill>
                          <a:latin typeface="Calibri"/>
                        </a:defRPr>
                      </a:pPr>
                      <a:r>
                        <a:t>09</a:t>
                      </a:r>
                    </a:p>
                  </a:txBody>
                  <a:tcPr>
                    <a:solidFill>
                      <a:srgbClr val="111827"/>
                    </a:solidFill>
                  </a:tcPr>
                </a:tc>
                <a:tc>
                  <a:txBody>
                    <a:bodyPr/>
                    <a:lstStyle/>
                    <a:p>
                      <a:pPr>
                        <a:defRPr sz="850">
                          <a:solidFill>
                            <a:srgbClr val="F8FAFC"/>
                          </a:solidFill>
                          <a:latin typeface="Calibri"/>
                        </a:defRPr>
                      </a:pPr>
                      <a:r>
                        <a:t>Loitering Detection</a:t>
                      </a:r>
                    </a:p>
                  </a:txBody>
                  <a:tcPr>
                    <a:solidFill>
                      <a:srgbClr val="111827"/>
                    </a:solidFill>
                  </a:tcPr>
                </a:tc>
                <a:tc>
                  <a:txBody>
                    <a:bodyPr/>
                    <a:lstStyle/>
                    <a:p>
                      <a:pPr>
                        <a:defRPr sz="850">
                          <a:solidFill>
                            <a:srgbClr val="F8FAFC"/>
                          </a:solidFill>
                          <a:latin typeface="Calibri"/>
                        </a:defRPr>
                      </a:pPr>
                      <a:r>
                        <a:t>Movement &amp; Zone Analytics</a:t>
                      </a:r>
                    </a:p>
                  </a:txBody>
                  <a:tcPr>
                    <a:solidFill>
                      <a:srgbClr val="111827"/>
                    </a:solidFill>
                  </a:tcPr>
                </a:tc>
                <a:tc>
                  <a:txBody>
                    <a:bodyPr/>
                    <a:lstStyle/>
                    <a:p>
                      <a:pPr>
                        <a:defRPr sz="850">
                          <a:solidFill>
                            <a:srgbClr val="F8FAFC"/>
                          </a:solidFill>
                          <a:latin typeface="Calibri"/>
                        </a:defRPr>
                      </a:pPr>
                      <a:r>
                        <a:t>Detects when an individual or vehicle lingers or remains stationary in a defined area longer than the permitted time limit.</a:t>
                      </a:r>
                    </a:p>
                  </a:txBody>
                  <a:tcPr>
                    <a:solidFill>
                      <a:srgbClr val="111827"/>
                    </a:solidFill>
                  </a:tcPr>
                </a:tc>
              </a:tr>
              <a:tr h="341376">
                <a:tc>
                  <a:txBody>
                    <a:bodyPr/>
                    <a:lstStyle/>
                    <a:p>
                      <a:pPr>
                        <a:defRPr sz="850">
                          <a:solidFill>
                            <a:srgbClr val="94A3B8"/>
                          </a:solidFill>
                          <a:latin typeface="Calibri"/>
                        </a:defRPr>
                      </a:pPr>
                      <a:r>
                        <a:t>10</a:t>
                      </a:r>
                    </a:p>
                  </a:txBody>
                  <a:tcPr>
                    <a:solidFill>
                      <a:srgbClr val="0E1421"/>
                    </a:solidFill>
                  </a:tcPr>
                </a:tc>
                <a:tc>
                  <a:txBody>
                    <a:bodyPr/>
                    <a:lstStyle/>
                    <a:p>
                      <a:pPr>
                        <a:defRPr sz="850">
                          <a:solidFill>
                            <a:srgbClr val="F8FAFC"/>
                          </a:solidFill>
                          <a:latin typeface="Calibri"/>
                        </a:defRPr>
                      </a:pPr>
                      <a:r>
                        <a:t>Crowd Detection</a:t>
                      </a:r>
                    </a:p>
                  </a:txBody>
                  <a:tcPr>
                    <a:solidFill>
                      <a:srgbClr val="0E1421"/>
                    </a:solidFill>
                  </a:tcPr>
                </a:tc>
                <a:tc>
                  <a:txBody>
                    <a:bodyPr/>
                    <a:lstStyle/>
                    <a:p>
                      <a:pPr>
                        <a:defRPr sz="850">
                          <a:solidFill>
                            <a:srgbClr val="F8FAFC"/>
                          </a:solidFill>
                          <a:latin typeface="Calibri"/>
                        </a:defRPr>
                      </a:pPr>
                      <a:r>
                        <a:t>Crowd &amp; Counting Analytics</a:t>
                      </a:r>
                    </a:p>
                  </a:txBody>
                  <a:tcPr>
                    <a:solidFill>
                      <a:srgbClr val="0E1421"/>
                    </a:solidFill>
                  </a:tcPr>
                </a:tc>
                <a:tc>
                  <a:txBody>
                    <a:bodyPr/>
                    <a:lstStyle/>
                    <a:p>
                      <a:pPr>
                        <a:defRPr sz="850">
                          <a:solidFill>
                            <a:srgbClr val="F8FAFC"/>
                          </a:solidFill>
                          <a:latin typeface="Calibri"/>
                        </a:defRPr>
                      </a:pPr>
                      <a:r>
                        <a:t>Identifies when a group of people gathers in a specific area exceeding normal group size or threshold.</a:t>
                      </a:r>
                    </a:p>
                  </a:txBody>
                  <a:tcPr>
                    <a:solidFill>
                      <a:srgbClr val="0E1421"/>
                    </a:solidFill>
                  </a:tcPr>
                </a:tc>
              </a:tr>
              <a:tr h="341376">
                <a:tc>
                  <a:txBody>
                    <a:bodyPr/>
                    <a:lstStyle/>
                    <a:p>
                      <a:pPr>
                        <a:defRPr sz="850">
                          <a:solidFill>
                            <a:srgbClr val="94A3B8"/>
                          </a:solidFill>
                          <a:latin typeface="Calibri"/>
                        </a:defRPr>
                      </a:pPr>
                      <a:r>
                        <a:t>11</a:t>
                      </a:r>
                    </a:p>
                  </a:txBody>
                  <a:tcPr>
                    <a:solidFill>
                      <a:srgbClr val="111827"/>
                    </a:solidFill>
                  </a:tcPr>
                </a:tc>
                <a:tc>
                  <a:txBody>
                    <a:bodyPr/>
                    <a:lstStyle/>
                    <a:p>
                      <a:pPr>
                        <a:defRPr sz="850">
                          <a:solidFill>
                            <a:srgbClr val="F8FAFC"/>
                          </a:solidFill>
                          <a:latin typeface="Calibri"/>
                        </a:defRPr>
                      </a:pPr>
                      <a:r>
                        <a:t>Crowd Density Analysis</a:t>
                      </a:r>
                    </a:p>
                  </a:txBody>
                  <a:tcPr>
                    <a:solidFill>
                      <a:srgbClr val="111827"/>
                    </a:solidFill>
                  </a:tcPr>
                </a:tc>
                <a:tc>
                  <a:txBody>
                    <a:bodyPr/>
                    <a:lstStyle/>
                    <a:p>
                      <a:pPr>
                        <a:defRPr sz="850">
                          <a:solidFill>
                            <a:srgbClr val="F8FAFC"/>
                          </a:solidFill>
                          <a:latin typeface="Calibri"/>
                        </a:defRPr>
                      </a:pPr>
                      <a:r>
                        <a:t>Crowd &amp; Counting Analytics</a:t>
                      </a:r>
                    </a:p>
                  </a:txBody>
                  <a:tcPr>
                    <a:solidFill>
                      <a:srgbClr val="111827"/>
                    </a:solidFill>
                  </a:tcPr>
                </a:tc>
                <a:tc>
                  <a:txBody>
                    <a:bodyPr/>
                    <a:lstStyle/>
                    <a:p>
                      <a:pPr>
                        <a:defRPr sz="850">
                          <a:solidFill>
                            <a:srgbClr val="F8FAFC"/>
                          </a:solidFill>
                          <a:latin typeface="Calibri"/>
                        </a:defRPr>
                      </a:pPr>
                      <a:r>
                        <a:t>Measures and visualizes the percentage and density of spatial occupancy across an area to prevent dangerous overcrowding.</a:t>
                      </a:r>
                    </a:p>
                  </a:txBody>
                  <a:tcPr>
                    <a:solidFill>
                      <a:srgbClr val="111827"/>
                    </a:solidFill>
                  </a:tcPr>
                </a:tc>
              </a:tr>
              <a:tr h="341376">
                <a:tc>
                  <a:txBody>
                    <a:bodyPr/>
                    <a:lstStyle/>
                    <a:p>
                      <a:pPr>
                        <a:defRPr sz="850">
                          <a:solidFill>
                            <a:srgbClr val="94A3B8"/>
                          </a:solidFill>
                          <a:latin typeface="Calibri"/>
                        </a:defRPr>
                      </a:pPr>
                      <a:r>
                        <a:t>12</a:t>
                      </a:r>
                    </a:p>
                  </a:txBody>
                  <a:tcPr>
                    <a:solidFill>
                      <a:srgbClr val="0E1421"/>
                    </a:solidFill>
                  </a:tcPr>
                </a:tc>
                <a:tc>
                  <a:txBody>
                    <a:bodyPr/>
                    <a:lstStyle/>
                    <a:p>
                      <a:pPr>
                        <a:defRPr sz="850">
                          <a:solidFill>
                            <a:srgbClr val="F8FAFC"/>
                          </a:solidFill>
                          <a:latin typeface="Calibri"/>
                        </a:defRPr>
                      </a:pPr>
                      <a:r>
                        <a:t>People Counting</a:t>
                      </a:r>
                    </a:p>
                  </a:txBody>
                  <a:tcPr>
                    <a:solidFill>
                      <a:srgbClr val="0E1421"/>
                    </a:solidFill>
                  </a:tcPr>
                </a:tc>
                <a:tc>
                  <a:txBody>
                    <a:bodyPr/>
                    <a:lstStyle/>
                    <a:p>
                      <a:pPr>
                        <a:defRPr sz="850">
                          <a:solidFill>
                            <a:srgbClr val="F8FAFC"/>
                          </a:solidFill>
                          <a:latin typeface="Calibri"/>
                        </a:defRPr>
                      </a:pPr>
                      <a:r>
                        <a:t>Crowd &amp; Counting Analytics</a:t>
                      </a:r>
                    </a:p>
                  </a:txBody>
                  <a:tcPr>
                    <a:solidFill>
                      <a:srgbClr val="0E1421"/>
                    </a:solidFill>
                  </a:tcPr>
                </a:tc>
                <a:tc>
                  <a:txBody>
                    <a:bodyPr/>
                    <a:lstStyle/>
                    <a:p>
                      <a:pPr>
                        <a:defRPr sz="850">
                          <a:solidFill>
                            <a:srgbClr val="F8FAFC"/>
                          </a:solidFill>
                          <a:latin typeface="Calibri"/>
                        </a:defRPr>
                      </a:pPr>
                      <a:r>
                        <a:t>Continuously counts the number of people entering, exiting, or passing through a defined entrance or passage.</a:t>
                      </a:r>
                    </a:p>
                  </a:txBody>
                  <a:tcPr>
                    <a:solidFill>
                      <a:srgbClr val="0E1421"/>
                    </a:solidFill>
                  </a:tcPr>
                </a:tc>
              </a:tr>
              <a:tr h="341376">
                <a:tc>
                  <a:txBody>
                    <a:bodyPr/>
                    <a:lstStyle/>
                    <a:p>
                      <a:pPr>
                        <a:defRPr sz="850">
                          <a:solidFill>
                            <a:srgbClr val="94A3B8"/>
                          </a:solidFill>
                          <a:latin typeface="Calibri"/>
                        </a:defRPr>
                      </a:pPr>
                      <a:r>
                        <a:t>13</a:t>
                      </a:r>
                    </a:p>
                  </a:txBody>
                  <a:tcPr>
                    <a:solidFill>
                      <a:srgbClr val="111827"/>
                    </a:solidFill>
                  </a:tcPr>
                </a:tc>
                <a:tc>
                  <a:txBody>
                    <a:bodyPr/>
                    <a:lstStyle/>
                    <a:p>
                      <a:pPr>
                        <a:defRPr sz="850">
                          <a:solidFill>
                            <a:srgbClr val="F8FAFC"/>
                          </a:solidFill>
                          <a:latin typeface="Calibri"/>
                        </a:defRPr>
                      </a:pPr>
                      <a:r>
                        <a:t>Occupancy Counting</a:t>
                      </a:r>
                    </a:p>
                  </a:txBody>
                  <a:tcPr>
                    <a:solidFill>
                      <a:srgbClr val="111827"/>
                    </a:solidFill>
                  </a:tcPr>
                </a:tc>
                <a:tc>
                  <a:txBody>
                    <a:bodyPr/>
                    <a:lstStyle/>
                    <a:p>
                      <a:pPr>
                        <a:defRPr sz="850">
                          <a:solidFill>
                            <a:srgbClr val="F8FAFC"/>
                          </a:solidFill>
                          <a:latin typeface="Calibri"/>
                        </a:defRPr>
                      </a:pPr>
                      <a:r>
                        <a:t>Crowd &amp; Counting Analytics</a:t>
                      </a:r>
                    </a:p>
                  </a:txBody>
                  <a:tcPr>
                    <a:solidFill>
                      <a:srgbClr val="111827"/>
                    </a:solidFill>
                  </a:tcPr>
                </a:tc>
                <a:tc>
                  <a:txBody>
                    <a:bodyPr/>
                    <a:lstStyle/>
                    <a:p>
                      <a:pPr>
                        <a:defRPr sz="850">
                          <a:solidFill>
                            <a:srgbClr val="F8FAFC"/>
                          </a:solidFill>
                          <a:latin typeface="Calibri"/>
                        </a:defRPr>
                      </a:pPr>
                      <a:r>
                        <a:t>Maintains a live, real-time count of total individuals currently inside a building or enclosed space to enforce capacity limits.</a:t>
                      </a:r>
                    </a:p>
                  </a:txBody>
                  <a:tcPr>
                    <a:solidFill>
                      <a:srgbClr val="111827"/>
                    </a:solidFill>
                  </a:tcPr>
                </a:tc>
              </a:tr>
              <a:tr h="341376">
                <a:tc>
                  <a:txBody>
                    <a:bodyPr/>
                    <a:lstStyle/>
                    <a:p>
                      <a:pPr>
                        <a:defRPr sz="850">
                          <a:solidFill>
                            <a:srgbClr val="94A3B8"/>
                          </a:solidFill>
                          <a:latin typeface="Calibri"/>
                        </a:defRPr>
                      </a:pPr>
                      <a:r>
                        <a:t>14</a:t>
                      </a:r>
                    </a:p>
                  </a:txBody>
                  <a:tcPr>
                    <a:solidFill>
                      <a:srgbClr val="0E1421"/>
                    </a:solidFill>
                  </a:tcPr>
                </a:tc>
                <a:tc>
                  <a:txBody>
                    <a:bodyPr/>
                    <a:lstStyle/>
                    <a:p>
                      <a:pPr>
                        <a:defRPr sz="850">
                          <a:solidFill>
                            <a:srgbClr val="F8FAFC"/>
                          </a:solidFill>
                          <a:latin typeface="Calibri"/>
                        </a:defRPr>
                      </a:pPr>
                      <a:r>
                        <a:t>Direction Detection</a:t>
                      </a:r>
                    </a:p>
                  </a:txBody>
                  <a:tcPr>
                    <a:solidFill>
                      <a:srgbClr val="0E1421"/>
                    </a:solidFill>
                  </a:tcPr>
                </a:tc>
                <a:tc>
                  <a:txBody>
                    <a:bodyPr/>
                    <a:lstStyle/>
                    <a:p>
                      <a:pPr>
                        <a:defRPr sz="850">
                          <a:solidFill>
                            <a:srgbClr val="F8FAFC"/>
                          </a:solidFill>
                          <a:latin typeface="Calibri"/>
                        </a:defRPr>
                      </a:pPr>
                      <a:r>
                        <a:t>Movement &amp; Zone Analytics</a:t>
                      </a:r>
                    </a:p>
                  </a:txBody>
                  <a:tcPr>
                    <a:solidFill>
                      <a:srgbClr val="0E1421"/>
                    </a:solidFill>
                  </a:tcPr>
                </a:tc>
                <a:tc>
                  <a:txBody>
                    <a:bodyPr/>
                    <a:lstStyle/>
                    <a:p>
                      <a:pPr>
                        <a:defRPr sz="850">
                          <a:solidFill>
                            <a:srgbClr val="F8FAFC"/>
                          </a:solidFill>
                          <a:latin typeface="Calibri"/>
                        </a:defRPr>
                      </a:pPr>
                      <a:r>
                        <a:t>Determines and monitors the travel vector of moving pedestrians or vehicles along designated paths.</a:t>
                      </a:r>
                    </a:p>
                  </a:txBody>
                  <a:tcPr>
                    <a:solidFill>
                      <a:srgbClr val="0E1421"/>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50" b="1">
                <a:solidFill>
                  <a:srgbClr val="00E5FF"/>
                </a:solidFill>
                <a:latin typeface="Arial"/>
              </a:defRPr>
            </a:pPr>
            <a:r>
              <a:t>CAPABILITY MATRIX  •  PART 2 OF 2</a:t>
            </a:r>
          </a:p>
          <a:p>
            <a:pPr>
              <a:defRPr sz="2200" b="1">
                <a:solidFill>
                  <a:srgbClr val="F8FAFC"/>
                </a:solidFill>
                <a:latin typeface="Arial"/>
              </a:defRPr>
            </a:pPr>
            <a:r>
              <a:t>Object, Camera Health, Safety &amp; Tracking Analytics (Capabilities 15 – 28)</a:t>
            </a:r>
          </a:p>
        </p:txBody>
      </p:sp>
      <p:graphicFrame>
        <p:nvGraphicFramePr>
          <p:cNvPr id="4" name="Table 3"/>
          <p:cNvGraphicFramePr>
            <a:graphicFrameLocks noGrp="1"/>
          </p:cNvGraphicFramePr>
          <p:nvPr/>
        </p:nvGraphicFramePr>
        <p:xfrm>
          <a:off x="731520" y="1280160"/>
          <a:ext cx="10728655" cy="5120640"/>
        </p:xfrm>
        <a:graphic>
          <a:graphicData uri="http://schemas.openxmlformats.org/drawingml/2006/table">
            <a:tbl>
              <a:tblPr firstRow="1" bandRow="1">
                <a:tableStyleId>{5C22544A-7EE6-4342-B048-85BDC9FD1C3A}</a:tableStyleId>
              </a:tblPr>
              <a:tblGrid>
                <a:gridCol w="548640"/>
                <a:gridCol w="2926080"/>
                <a:gridCol w="2377440"/>
                <a:gridCol w="4876495"/>
              </a:tblGrid>
              <a:tr h="341376">
                <a:tc>
                  <a:txBody>
                    <a:bodyPr/>
                    <a:lstStyle/>
                    <a:p>
                      <a:pPr>
                        <a:defRPr sz="950" b="1">
                          <a:solidFill>
                            <a:srgbClr val="00E5FF"/>
                          </a:solidFill>
                          <a:latin typeface="Arial"/>
                        </a:defRPr>
                      </a:pPr>
                      <a:r>
                        <a:t>#</a:t>
                      </a:r>
                    </a:p>
                  </a:txBody>
                  <a:tcPr>
                    <a:solidFill>
                      <a:srgbClr val="192238"/>
                    </a:solidFill>
                  </a:tcPr>
                </a:tc>
                <a:tc>
                  <a:txBody>
                    <a:bodyPr/>
                    <a:lstStyle/>
                    <a:p>
                      <a:pPr>
                        <a:defRPr sz="950" b="1">
                          <a:solidFill>
                            <a:srgbClr val="00E5FF"/>
                          </a:solidFill>
                          <a:latin typeface="Arial"/>
                        </a:defRPr>
                      </a:pPr>
                      <a:r>
                        <a:t>Capability Name</a:t>
                      </a:r>
                    </a:p>
                  </a:txBody>
                  <a:tcPr>
                    <a:solidFill>
                      <a:srgbClr val="192238"/>
                    </a:solidFill>
                  </a:tcPr>
                </a:tc>
                <a:tc>
                  <a:txBody>
                    <a:bodyPr/>
                    <a:lstStyle/>
                    <a:p>
                      <a:pPr>
                        <a:defRPr sz="950" b="1">
                          <a:solidFill>
                            <a:srgbClr val="00E5FF"/>
                          </a:solidFill>
                          <a:latin typeface="Arial"/>
                        </a:defRPr>
                      </a:pPr>
                      <a:r>
                        <a:t>Category</a:t>
                      </a:r>
                    </a:p>
                  </a:txBody>
                  <a:tcPr>
                    <a:solidFill>
                      <a:srgbClr val="192238"/>
                    </a:solidFill>
                  </a:tcPr>
                </a:tc>
                <a:tc>
                  <a:txBody>
                    <a:bodyPr/>
                    <a:lstStyle/>
                    <a:p>
                      <a:pPr>
                        <a:defRPr sz="950" b="1">
                          <a:solidFill>
                            <a:srgbClr val="00E5FF"/>
                          </a:solidFill>
                          <a:latin typeface="Arial"/>
                        </a:defRPr>
                      </a:pPr>
                      <a:r>
                        <a:t>Core Function (One-Line Summary)</a:t>
                      </a:r>
                    </a:p>
                  </a:txBody>
                  <a:tcPr>
                    <a:solidFill>
                      <a:srgbClr val="192238"/>
                    </a:solidFill>
                  </a:tcPr>
                </a:tc>
              </a:tr>
              <a:tr h="341376">
                <a:tc>
                  <a:txBody>
                    <a:bodyPr/>
                    <a:lstStyle/>
                    <a:p>
                      <a:pPr>
                        <a:defRPr sz="850">
                          <a:solidFill>
                            <a:srgbClr val="94A3B8"/>
                          </a:solidFill>
                          <a:latin typeface="Calibri"/>
                        </a:defRPr>
                      </a:pPr>
                      <a:r>
                        <a:t>15</a:t>
                      </a:r>
                    </a:p>
                  </a:txBody>
                  <a:tcPr>
                    <a:solidFill>
                      <a:srgbClr val="111827"/>
                    </a:solidFill>
                  </a:tcPr>
                </a:tc>
                <a:tc>
                  <a:txBody>
                    <a:bodyPr/>
                    <a:lstStyle/>
                    <a:p>
                      <a:pPr>
                        <a:defRPr sz="850">
                          <a:solidFill>
                            <a:srgbClr val="F8FAFC"/>
                          </a:solidFill>
                          <a:latin typeface="Calibri"/>
                        </a:defRPr>
                      </a:pPr>
                      <a:r>
                        <a:t>Wrong-Way Movement Detection</a:t>
                      </a:r>
                    </a:p>
                  </a:txBody>
                  <a:tcPr>
                    <a:solidFill>
                      <a:srgbClr val="111827"/>
                    </a:solidFill>
                  </a:tcPr>
                </a:tc>
                <a:tc>
                  <a:txBody>
                    <a:bodyPr/>
                    <a:lstStyle/>
                    <a:p>
                      <a:pPr>
                        <a:defRPr sz="850">
                          <a:solidFill>
                            <a:srgbClr val="F8FAFC"/>
                          </a:solidFill>
                          <a:latin typeface="Calibri"/>
                        </a:defRPr>
                      </a:pPr>
                      <a:r>
                        <a:t>Movement &amp; Zone Analytics</a:t>
                      </a:r>
                    </a:p>
                  </a:txBody>
                  <a:tcPr>
                    <a:solidFill>
                      <a:srgbClr val="111827"/>
                    </a:solidFill>
                  </a:tcPr>
                </a:tc>
                <a:tc>
                  <a:txBody>
                    <a:bodyPr/>
                    <a:lstStyle/>
                    <a:p>
                      <a:pPr>
                        <a:defRPr sz="850">
                          <a:solidFill>
                            <a:srgbClr val="F8FAFC"/>
                          </a:solidFill>
                          <a:latin typeface="Calibri"/>
                        </a:defRPr>
                      </a:pPr>
                      <a:r>
                        <a:t>Generates an urgent warning when a vehicle or person travels in reverse or against the mandatory flow of traffic.</a:t>
                      </a:r>
                    </a:p>
                  </a:txBody>
                  <a:tcPr>
                    <a:solidFill>
                      <a:srgbClr val="111827"/>
                    </a:solidFill>
                  </a:tcPr>
                </a:tc>
              </a:tr>
              <a:tr h="341376">
                <a:tc>
                  <a:txBody>
                    <a:bodyPr/>
                    <a:lstStyle/>
                    <a:p>
                      <a:pPr>
                        <a:defRPr sz="850">
                          <a:solidFill>
                            <a:srgbClr val="94A3B8"/>
                          </a:solidFill>
                          <a:latin typeface="Calibri"/>
                        </a:defRPr>
                      </a:pPr>
                      <a:r>
                        <a:t>16</a:t>
                      </a:r>
                    </a:p>
                  </a:txBody>
                  <a:tcPr>
                    <a:solidFill>
                      <a:srgbClr val="0E1421"/>
                    </a:solidFill>
                  </a:tcPr>
                </a:tc>
                <a:tc>
                  <a:txBody>
                    <a:bodyPr/>
                    <a:lstStyle/>
                    <a:p>
                      <a:pPr>
                        <a:defRPr sz="850">
                          <a:solidFill>
                            <a:srgbClr val="F8FAFC"/>
                          </a:solidFill>
                          <a:latin typeface="Calibri"/>
                        </a:defRPr>
                      </a:pPr>
                      <a:r>
                        <a:t>Abandoned Object Detection</a:t>
                      </a:r>
                    </a:p>
                  </a:txBody>
                  <a:tcPr>
                    <a:solidFill>
                      <a:srgbClr val="0E1421"/>
                    </a:solidFill>
                  </a:tcPr>
                </a:tc>
                <a:tc>
                  <a:txBody>
                    <a:bodyPr/>
                    <a:lstStyle/>
                    <a:p>
                      <a:pPr>
                        <a:defRPr sz="850">
                          <a:solidFill>
                            <a:srgbClr val="F8FAFC"/>
                          </a:solidFill>
                          <a:latin typeface="Calibri"/>
                        </a:defRPr>
                      </a:pPr>
                      <a:r>
                        <a:t>Object Analytics</a:t>
                      </a:r>
                    </a:p>
                  </a:txBody>
                  <a:tcPr>
                    <a:solidFill>
                      <a:srgbClr val="0E1421"/>
                    </a:solidFill>
                  </a:tcPr>
                </a:tc>
                <a:tc>
                  <a:txBody>
                    <a:bodyPr/>
                    <a:lstStyle/>
                    <a:p>
                      <a:pPr>
                        <a:defRPr sz="850">
                          <a:solidFill>
                            <a:srgbClr val="F8FAFC"/>
                          </a:solidFill>
                          <a:latin typeface="Calibri"/>
                        </a:defRPr>
                      </a:pPr>
                      <a:r>
                        <a:t>Flags unattended stationary items, such as bags or boxes, left behind in public areas beyond a set time limit.</a:t>
                      </a:r>
                    </a:p>
                  </a:txBody>
                  <a:tcPr>
                    <a:solidFill>
                      <a:srgbClr val="0E1421"/>
                    </a:solidFill>
                  </a:tcPr>
                </a:tc>
              </a:tr>
              <a:tr h="341376">
                <a:tc>
                  <a:txBody>
                    <a:bodyPr/>
                    <a:lstStyle/>
                    <a:p>
                      <a:pPr>
                        <a:defRPr sz="850">
                          <a:solidFill>
                            <a:srgbClr val="94A3B8"/>
                          </a:solidFill>
                          <a:latin typeface="Calibri"/>
                        </a:defRPr>
                      </a:pPr>
                      <a:r>
                        <a:t>17</a:t>
                      </a:r>
                    </a:p>
                  </a:txBody>
                  <a:tcPr>
                    <a:solidFill>
                      <a:srgbClr val="111827"/>
                    </a:solidFill>
                  </a:tcPr>
                </a:tc>
                <a:tc>
                  <a:txBody>
                    <a:bodyPr/>
                    <a:lstStyle/>
                    <a:p>
                      <a:pPr>
                        <a:defRPr sz="850">
                          <a:solidFill>
                            <a:srgbClr val="F8FAFC"/>
                          </a:solidFill>
                          <a:latin typeface="Calibri"/>
                        </a:defRPr>
                      </a:pPr>
                      <a:r>
                        <a:t>Missing Object Detection</a:t>
                      </a:r>
                    </a:p>
                  </a:txBody>
                  <a:tcPr>
                    <a:solidFill>
                      <a:srgbClr val="111827"/>
                    </a:solidFill>
                  </a:tcPr>
                </a:tc>
                <a:tc>
                  <a:txBody>
                    <a:bodyPr/>
                    <a:lstStyle/>
                    <a:p>
                      <a:pPr>
                        <a:defRPr sz="850">
                          <a:solidFill>
                            <a:srgbClr val="F8FAFC"/>
                          </a:solidFill>
                          <a:latin typeface="Calibri"/>
                        </a:defRPr>
                      </a:pPr>
                      <a:r>
                        <a:t>Object Analytics</a:t>
                      </a:r>
                    </a:p>
                  </a:txBody>
                  <a:tcPr>
                    <a:solidFill>
                      <a:srgbClr val="111827"/>
                    </a:solidFill>
                  </a:tcPr>
                </a:tc>
                <a:tc>
                  <a:txBody>
                    <a:bodyPr/>
                    <a:lstStyle/>
                    <a:p>
                      <a:pPr>
                        <a:defRPr sz="850">
                          <a:solidFill>
                            <a:srgbClr val="F8FAFC"/>
                          </a:solidFill>
                          <a:latin typeface="Calibri"/>
                        </a:defRPr>
                      </a:pPr>
                      <a:r>
                        <a:t>Alerts security operators immediately when a designated stationary asset or valuable object disappears from its location.</a:t>
                      </a:r>
                    </a:p>
                  </a:txBody>
                  <a:tcPr>
                    <a:solidFill>
                      <a:srgbClr val="111827"/>
                    </a:solidFill>
                  </a:tcPr>
                </a:tc>
              </a:tr>
              <a:tr h="341376">
                <a:tc>
                  <a:txBody>
                    <a:bodyPr/>
                    <a:lstStyle/>
                    <a:p>
                      <a:pPr>
                        <a:defRPr sz="850">
                          <a:solidFill>
                            <a:srgbClr val="94A3B8"/>
                          </a:solidFill>
                          <a:latin typeface="Calibri"/>
                        </a:defRPr>
                      </a:pPr>
                      <a:r>
                        <a:t>18</a:t>
                      </a:r>
                    </a:p>
                  </a:txBody>
                  <a:tcPr>
                    <a:solidFill>
                      <a:srgbClr val="0E1421"/>
                    </a:solidFill>
                  </a:tcPr>
                </a:tc>
                <a:tc>
                  <a:txBody>
                    <a:bodyPr/>
                    <a:lstStyle/>
                    <a:p>
                      <a:pPr>
                        <a:defRPr sz="850">
                          <a:solidFill>
                            <a:srgbClr val="F8FAFC"/>
                          </a:solidFill>
                          <a:latin typeface="Calibri"/>
                        </a:defRPr>
                      </a:pPr>
                      <a:r>
                        <a:t>Object Removal Detection</a:t>
                      </a:r>
                    </a:p>
                  </a:txBody>
                  <a:tcPr>
                    <a:solidFill>
                      <a:srgbClr val="0E1421"/>
                    </a:solidFill>
                  </a:tcPr>
                </a:tc>
                <a:tc>
                  <a:txBody>
                    <a:bodyPr/>
                    <a:lstStyle/>
                    <a:p>
                      <a:pPr>
                        <a:defRPr sz="850">
                          <a:solidFill>
                            <a:srgbClr val="F8FAFC"/>
                          </a:solidFill>
                          <a:latin typeface="Calibri"/>
                        </a:defRPr>
                      </a:pPr>
                      <a:r>
                        <a:t>Object Analytics</a:t>
                      </a:r>
                    </a:p>
                  </a:txBody>
                  <a:tcPr>
                    <a:solidFill>
                      <a:srgbClr val="0E1421"/>
                    </a:solidFill>
                  </a:tcPr>
                </a:tc>
                <a:tc>
                  <a:txBody>
                    <a:bodyPr/>
                    <a:lstStyle/>
                    <a:p>
                      <a:pPr>
                        <a:defRPr sz="850">
                          <a:solidFill>
                            <a:srgbClr val="F8FAFC"/>
                          </a:solidFill>
                          <a:latin typeface="Calibri"/>
                        </a:defRPr>
                      </a:pPr>
                      <a:r>
                        <a:t>Detects the deliberate physical act of an individual lifting, taking, or removing a protected item from its resting place.</a:t>
                      </a:r>
                    </a:p>
                  </a:txBody>
                  <a:tcPr>
                    <a:solidFill>
                      <a:srgbClr val="0E1421"/>
                    </a:solidFill>
                  </a:tcPr>
                </a:tc>
              </a:tr>
              <a:tr h="341376">
                <a:tc>
                  <a:txBody>
                    <a:bodyPr/>
                    <a:lstStyle/>
                    <a:p>
                      <a:pPr>
                        <a:defRPr sz="850">
                          <a:solidFill>
                            <a:srgbClr val="94A3B8"/>
                          </a:solidFill>
                          <a:latin typeface="Calibri"/>
                        </a:defRPr>
                      </a:pPr>
                      <a:r>
                        <a:t>19</a:t>
                      </a:r>
                    </a:p>
                  </a:txBody>
                  <a:tcPr>
                    <a:solidFill>
                      <a:srgbClr val="111827"/>
                    </a:solidFill>
                  </a:tcPr>
                </a:tc>
                <a:tc>
                  <a:txBody>
                    <a:bodyPr/>
                    <a:lstStyle/>
                    <a:p>
                      <a:pPr>
                        <a:defRPr sz="850">
                          <a:solidFill>
                            <a:srgbClr val="F8FAFC"/>
                          </a:solidFill>
                          <a:latin typeface="Calibri"/>
                        </a:defRPr>
                      </a:pPr>
                      <a:r>
                        <a:t>Scene Change Detection</a:t>
                      </a:r>
                    </a:p>
                  </a:txBody>
                  <a:tcPr>
                    <a:solidFill>
                      <a:srgbClr val="111827"/>
                    </a:solidFill>
                  </a:tcPr>
                </a:tc>
                <a:tc>
                  <a:txBody>
                    <a:bodyPr/>
                    <a:lstStyle/>
                    <a:p>
                      <a:pPr>
                        <a:defRPr sz="850">
                          <a:solidFill>
                            <a:srgbClr val="F8FAFC"/>
                          </a:solidFill>
                          <a:latin typeface="Calibri"/>
                        </a:defRPr>
                      </a:pPr>
                      <a:r>
                        <a:t>Object Analytics</a:t>
                      </a:r>
                    </a:p>
                  </a:txBody>
                  <a:tcPr>
                    <a:solidFill>
                      <a:srgbClr val="111827"/>
                    </a:solidFill>
                  </a:tcPr>
                </a:tc>
                <a:tc>
                  <a:txBody>
                    <a:bodyPr/>
                    <a:lstStyle/>
                    <a:p>
                      <a:pPr>
                        <a:defRPr sz="850">
                          <a:solidFill>
                            <a:srgbClr val="F8FAFC"/>
                          </a:solidFill>
                          <a:latin typeface="Calibri"/>
                        </a:defRPr>
                      </a:pPr>
                      <a:r>
                        <a:t>Detects sudden significant changes in the camera's visual background caused by physical rotation, repositioning, or environmental shifts.</a:t>
                      </a:r>
                    </a:p>
                  </a:txBody>
                  <a:tcPr>
                    <a:solidFill>
                      <a:srgbClr val="111827"/>
                    </a:solidFill>
                  </a:tcPr>
                </a:tc>
              </a:tr>
              <a:tr h="341376">
                <a:tc>
                  <a:txBody>
                    <a:bodyPr/>
                    <a:lstStyle/>
                    <a:p>
                      <a:pPr>
                        <a:defRPr sz="850">
                          <a:solidFill>
                            <a:srgbClr val="94A3B8"/>
                          </a:solidFill>
                          <a:latin typeface="Calibri"/>
                        </a:defRPr>
                      </a:pPr>
                      <a:r>
                        <a:t>20</a:t>
                      </a:r>
                    </a:p>
                  </a:txBody>
                  <a:tcPr>
                    <a:solidFill>
                      <a:srgbClr val="0E1421"/>
                    </a:solidFill>
                  </a:tcPr>
                </a:tc>
                <a:tc>
                  <a:txBody>
                    <a:bodyPr/>
                    <a:lstStyle/>
                    <a:p>
                      <a:pPr>
                        <a:defRPr sz="850">
                          <a:solidFill>
                            <a:srgbClr val="F8FAFC"/>
                          </a:solidFill>
                          <a:latin typeface="Calibri"/>
                        </a:defRPr>
                      </a:pPr>
                      <a:r>
                        <a:t>Camera Tampering Detection</a:t>
                      </a:r>
                    </a:p>
                  </a:txBody>
                  <a:tcPr>
                    <a:solidFill>
                      <a:srgbClr val="0E1421"/>
                    </a:solidFill>
                  </a:tcPr>
                </a:tc>
                <a:tc>
                  <a:txBody>
                    <a:bodyPr/>
                    <a:lstStyle/>
                    <a:p>
                      <a:pPr>
                        <a:defRPr sz="850">
                          <a:solidFill>
                            <a:srgbClr val="F8FAFC"/>
                          </a:solidFill>
                          <a:latin typeface="Calibri"/>
                        </a:defRPr>
                      </a:pPr>
                      <a:r>
                        <a:t>Camera Health</a:t>
                      </a:r>
                    </a:p>
                  </a:txBody>
                  <a:tcPr>
                    <a:solidFill>
                      <a:srgbClr val="0E1421"/>
                    </a:solidFill>
                  </a:tcPr>
                </a:tc>
                <a:tc>
                  <a:txBody>
                    <a:bodyPr/>
                    <a:lstStyle/>
                    <a:p>
                      <a:pPr>
                        <a:defRPr sz="850">
                          <a:solidFill>
                            <a:srgbClr val="F8FAFC"/>
                          </a:solidFill>
                          <a:latin typeface="Calibri"/>
                        </a:defRPr>
                      </a:pPr>
                      <a:r>
                        <a:t>Alarms when an attacker attempts to vandalize or incapacitate a camera via spray painting, laser blinding, sudden redirection, or physical impact.</a:t>
                      </a:r>
                    </a:p>
                  </a:txBody>
                  <a:tcPr>
                    <a:solidFill>
                      <a:srgbClr val="0E1421"/>
                    </a:solidFill>
                  </a:tcPr>
                </a:tc>
              </a:tr>
              <a:tr h="341376">
                <a:tc>
                  <a:txBody>
                    <a:bodyPr/>
                    <a:lstStyle/>
                    <a:p>
                      <a:pPr>
                        <a:defRPr sz="850">
                          <a:solidFill>
                            <a:srgbClr val="94A3B8"/>
                          </a:solidFill>
                          <a:latin typeface="Calibri"/>
                        </a:defRPr>
                      </a:pPr>
                      <a:r>
                        <a:t>21</a:t>
                      </a:r>
                    </a:p>
                  </a:txBody>
                  <a:tcPr>
                    <a:solidFill>
                      <a:srgbClr val="111827"/>
                    </a:solidFill>
                  </a:tcPr>
                </a:tc>
                <a:tc>
                  <a:txBody>
                    <a:bodyPr/>
                    <a:lstStyle/>
                    <a:p>
                      <a:pPr>
                        <a:defRPr sz="850">
                          <a:solidFill>
                            <a:srgbClr val="F8FAFC"/>
                          </a:solidFill>
                          <a:latin typeface="Calibri"/>
                        </a:defRPr>
                      </a:pPr>
                      <a:r>
                        <a:t>Video Loss Detection</a:t>
                      </a:r>
                    </a:p>
                  </a:txBody>
                  <a:tcPr>
                    <a:solidFill>
                      <a:srgbClr val="111827"/>
                    </a:solidFill>
                  </a:tcPr>
                </a:tc>
                <a:tc>
                  <a:txBody>
                    <a:bodyPr/>
                    <a:lstStyle/>
                    <a:p>
                      <a:pPr>
                        <a:defRPr sz="850">
                          <a:solidFill>
                            <a:srgbClr val="F8FAFC"/>
                          </a:solidFill>
                          <a:latin typeface="Calibri"/>
                        </a:defRPr>
                      </a:pPr>
                      <a:r>
                        <a:t>Camera Health</a:t>
                      </a:r>
                    </a:p>
                  </a:txBody>
                  <a:tcPr>
                    <a:solidFill>
                      <a:srgbClr val="111827"/>
                    </a:solidFill>
                  </a:tcPr>
                </a:tc>
                <a:tc>
                  <a:txBody>
                    <a:bodyPr/>
                    <a:lstStyle/>
                    <a:p>
                      <a:pPr>
                        <a:defRPr sz="850">
                          <a:solidFill>
                            <a:srgbClr val="F8FAFC"/>
                          </a:solidFill>
                          <a:latin typeface="Calibri"/>
                        </a:defRPr>
                      </a:pPr>
                      <a:r>
                        <a:t>Alerts security operators instantly when a camera signal drops, disconnects, or experiences complete transmission failure.</a:t>
                      </a:r>
                    </a:p>
                  </a:txBody>
                  <a:tcPr>
                    <a:solidFill>
                      <a:srgbClr val="111827"/>
                    </a:solidFill>
                  </a:tcPr>
                </a:tc>
              </a:tr>
              <a:tr h="341376">
                <a:tc>
                  <a:txBody>
                    <a:bodyPr/>
                    <a:lstStyle/>
                    <a:p>
                      <a:pPr>
                        <a:defRPr sz="850">
                          <a:solidFill>
                            <a:srgbClr val="94A3B8"/>
                          </a:solidFill>
                          <a:latin typeface="Calibri"/>
                        </a:defRPr>
                      </a:pPr>
                      <a:r>
                        <a:t>22</a:t>
                      </a:r>
                    </a:p>
                  </a:txBody>
                  <a:tcPr>
                    <a:solidFill>
                      <a:srgbClr val="0E1421"/>
                    </a:solidFill>
                  </a:tcPr>
                </a:tc>
                <a:tc>
                  <a:txBody>
                    <a:bodyPr/>
                    <a:lstStyle/>
                    <a:p>
                      <a:pPr>
                        <a:defRPr sz="850">
                          <a:solidFill>
                            <a:srgbClr val="F8FAFC"/>
                          </a:solidFill>
                          <a:latin typeface="Calibri"/>
                        </a:defRPr>
                      </a:pPr>
                      <a:r>
                        <a:t>Defocus Detection</a:t>
                      </a:r>
                    </a:p>
                  </a:txBody>
                  <a:tcPr>
                    <a:solidFill>
                      <a:srgbClr val="0E1421"/>
                    </a:solidFill>
                  </a:tcPr>
                </a:tc>
                <a:tc>
                  <a:txBody>
                    <a:bodyPr/>
                    <a:lstStyle/>
                    <a:p>
                      <a:pPr>
                        <a:defRPr sz="850">
                          <a:solidFill>
                            <a:srgbClr val="F8FAFC"/>
                          </a:solidFill>
                          <a:latin typeface="Calibri"/>
                        </a:defRPr>
                      </a:pPr>
                      <a:r>
                        <a:t>Camera Health</a:t>
                      </a:r>
                    </a:p>
                  </a:txBody>
                  <a:tcPr>
                    <a:solidFill>
                      <a:srgbClr val="0E1421"/>
                    </a:solidFill>
                  </a:tcPr>
                </a:tc>
                <a:tc>
                  <a:txBody>
                    <a:bodyPr/>
                    <a:lstStyle/>
                    <a:p>
                      <a:pPr>
                        <a:defRPr sz="850">
                          <a:solidFill>
                            <a:srgbClr val="F8FAFC"/>
                          </a:solidFill>
                          <a:latin typeface="Calibri"/>
                        </a:defRPr>
                      </a:pPr>
                      <a:r>
                        <a:t>Identifies when a camera's optical focus degrades or blurs, warning operators that image quality has been compromised.</a:t>
                      </a:r>
                    </a:p>
                  </a:txBody>
                  <a:tcPr>
                    <a:solidFill>
                      <a:srgbClr val="0E1421"/>
                    </a:solidFill>
                  </a:tcPr>
                </a:tc>
              </a:tr>
              <a:tr h="341376">
                <a:tc>
                  <a:txBody>
                    <a:bodyPr/>
                    <a:lstStyle/>
                    <a:p>
                      <a:pPr>
                        <a:defRPr sz="850">
                          <a:solidFill>
                            <a:srgbClr val="94A3B8"/>
                          </a:solidFill>
                          <a:latin typeface="Calibri"/>
                        </a:defRPr>
                      </a:pPr>
                      <a:r>
                        <a:t>23</a:t>
                      </a:r>
                    </a:p>
                  </a:txBody>
                  <a:tcPr>
                    <a:solidFill>
                      <a:srgbClr val="111827"/>
                    </a:solidFill>
                  </a:tcPr>
                </a:tc>
                <a:tc>
                  <a:txBody>
                    <a:bodyPr/>
                    <a:lstStyle/>
                    <a:p>
                      <a:pPr>
                        <a:defRPr sz="850">
                          <a:solidFill>
                            <a:srgbClr val="F8FAFC"/>
                          </a:solidFill>
                          <a:latin typeface="Calibri"/>
                        </a:defRPr>
                      </a:pPr>
                      <a:r>
                        <a:t>Camera Obstruction Detection</a:t>
                      </a:r>
                    </a:p>
                  </a:txBody>
                  <a:tcPr>
                    <a:solidFill>
                      <a:srgbClr val="111827"/>
                    </a:solidFill>
                  </a:tcPr>
                </a:tc>
                <a:tc>
                  <a:txBody>
                    <a:bodyPr/>
                    <a:lstStyle/>
                    <a:p>
                      <a:pPr>
                        <a:defRPr sz="850">
                          <a:solidFill>
                            <a:srgbClr val="F8FAFC"/>
                          </a:solidFill>
                          <a:latin typeface="Calibri"/>
                        </a:defRPr>
                      </a:pPr>
                      <a:r>
                        <a:t>Camera Health</a:t>
                      </a:r>
                    </a:p>
                  </a:txBody>
                  <a:tcPr>
                    <a:solidFill>
                      <a:srgbClr val="111827"/>
                    </a:solidFill>
                  </a:tcPr>
                </a:tc>
                <a:tc>
                  <a:txBody>
                    <a:bodyPr/>
                    <a:lstStyle/>
                    <a:p>
                      <a:pPr>
                        <a:defRPr sz="850">
                          <a:solidFill>
                            <a:srgbClr val="F8FAFC"/>
                          </a:solidFill>
                          <a:latin typeface="Calibri"/>
                        </a:defRPr>
                      </a:pPr>
                      <a:r>
                        <a:t>Detects when a camera's lens is covered, blocked, or obscured by foreign objects, bags, tape, or overgrown foliage.</a:t>
                      </a:r>
                    </a:p>
                  </a:txBody>
                  <a:tcPr>
                    <a:solidFill>
                      <a:srgbClr val="111827"/>
                    </a:solidFill>
                  </a:tcPr>
                </a:tc>
              </a:tr>
              <a:tr h="341376">
                <a:tc>
                  <a:txBody>
                    <a:bodyPr/>
                    <a:lstStyle/>
                    <a:p>
                      <a:pPr>
                        <a:defRPr sz="850">
                          <a:solidFill>
                            <a:srgbClr val="94A3B8"/>
                          </a:solidFill>
                          <a:latin typeface="Calibri"/>
                        </a:defRPr>
                      </a:pPr>
                      <a:r>
                        <a:t>24</a:t>
                      </a:r>
                    </a:p>
                  </a:txBody>
                  <a:tcPr>
                    <a:solidFill>
                      <a:srgbClr val="0E1421"/>
                    </a:solidFill>
                  </a:tcPr>
                </a:tc>
                <a:tc>
                  <a:txBody>
                    <a:bodyPr/>
                    <a:lstStyle/>
                    <a:p>
                      <a:pPr>
                        <a:defRPr sz="850">
                          <a:solidFill>
                            <a:srgbClr val="F8FAFC"/>
                          </a:solidFill>
                          <a:latin typeface="Calibri"/>
                        </a:defRPr>
                      </a:pPr>
                      <a:r>
                        <a:t>Perimeter Protection</a:t>
                      </a:r>
                    </a:p>
                  </a:txBody>
                  <a:tcPr>
                    <a:solidFill>
                      <a:srgbClr val="0E1421"/>
                    </a:solidFill>
                  </a:tcPr>
                </a:tc>
                <a:tc>
                  <a:txBody>
                    <a:bodyPr/>
                    <a:lstStyle/>
                    <a:p>
                      <a:pPr>
                        <a:defRPr sz="850">
                          <a:solidFill>
                            <a:srgbClr val="F8FAFC"/>
                          </a:solidFill>
                          <a:latin typeface="Calibri"/>
                        </a:defRPr>
                      </a:pPr>
                      <a:r>
                        <a:t>Movement &amp; Zone Analytics</a:t>
                      </a:r>
                    </a:p>
                  </a:txBody>
                  <a:tcPr>
                    <a:solidFill>
                      <a:srgbClr val="0E1421"/>
                    </a:solidFill>
                  </a:tcPr>
                </a:tc>
                <a:tc>
                  <a:txBody>
                    <a:bodyPr/>
                    <a:lstStyle/>
                    <a:p>
                      <a:pPr>
                        <a:defRPr sz="850">
                          <a:solidFill>
                            <a:srgbClr val="F8FAFC"/>
                          </a:solidFill>
                          <a:latin typeface="Calibri"/>
                        </a:defRPr>
                      </a:pPr>
                      <a:r>
                        <a:t>Establishes automated multi-layered virtual boundary security around property borders while filtering out environmental noise.</a:t>
                      </a:r>
                    </a:p>
                  </a:txBody>
                  <a:tcPr>
                    <a:solidFill>
                      <a:srgbClr val="0E1421"/>
                    </a:solidFill>
                  </a:tcPr>
                </a:tc>
              </a:tr>
              <a:tr h="341376">
                <a:tc>
                  <a:txBody>
                    <a:bodyPr/>
                    <a:lstStyle/>
                    <a:p>
                      <a:pPr>
                        <a:defRPr sz="850">
                          <a:solidFill>
                            <a:srgbClr val="94A3B8"/>
                          </a:solidFill>
                          <a:latin typeface="Calibri"/>
                        </a:defRPr>
                      </a:pPr>
                      <a:r>
                        <a:t>25</a:t>
                      </a:r>
                    </a:p>
                  </a:txBody>
                  <a:tcPr>
                    <a:solidFill>
                      <a:srgbClr val="111827"/>
                    </a:solidFill>
                  </a:tcPr>
                </a:tc>
                <a:tc>
                  <a:txBody>
                    <a:bodyPr/>
                    <a:lstStyle/>
                    <a:p>
                      <a:pPr>
                        <a:defRPr sz="850">
                          <a:solidFill>
                            <a:srgbClr val="F8FAFC"/>
                          </a:solidFill>
                          <a:latin typeface="Calibri"/>
                        </a:defRPr>
                      </a:pPr>
                      <a:r>
                        <a:t>Fall Detection, where applicable</a:t>
                      </a:r>
                    </a:p>
                  </a:txBody>
                  <a:tcPr>
                    <a:solidFill>
                      <a:srgbClr val="111827"/>
                    </a:solidFill>
                  </a:tcPr>
                </a:tc>
                <a:tc>
                  <a:txBody>
                    <a:bodyPr/>
                    <a:lstStyle/>
                    <a:p>
                      <a:pPr>
                        <a:defRPr sz="850">
                          <a:solidFill>
                            <a:srgbClr val="F8FAFC"/>
                          </a:solidFill>
                          <a:latin typeface="Calibri"/>
                        </a:defRPr>
                      </a:pPr>
                      <a:r>
                        <a:t>Safety Analytics</a:t>
                      </a:r>
                    </a:p>
                  </a:txBody>
                  <a:tcPr>
                    <a:solidFill>
                      <a:srgbClr val="111827"/>
                    </a:solidFill>
                  </a:tcPr>
                </a:tc>
                <a:tc>
                  <a:txBody>
                    <a:bodyPr/>
                    <a:lstStyle/>
                    <a:p>
                      <a:pPr>
                        <a:defRPr sz="850">
                          <a:solidFill>
                            <a:srgbClr val="F8FAFC"/>
                          </a:solidFill>
                          <a:latin typeface="Calibri"/>
                        </a:defRPr>
                      </a:pPr>
                      <a:r>
                        <a:t>Recognizes sudden changes in human posture indicative of a person collapsing or falling down, enabling immediate emergency assistance.</a:t>
                      </a:r>
                    </a:p>
                  </a:txBody>
                  <a:tcPr>
                    <a:solidFill>
                      <a:srgbClr val="111827"/>
                    </a:solidFill>
                  </a:tcPr>
                </a:tc>
              </a:tr>
              <a:tr h="341376">
                <a:tc>
                  <a:txBody>
                    <a:bodyPr/>
                    <a:lstStyle/>
                    <a:p>
                      <a:pPr>
                        <a:defRPr sz="850">
                          <a:solidFill>
                            <a:srgbClr val="94A3B8"/>
                          </a:solidFill>
                          <a:latin typeface="Calibri"/>
                        </a:defRPr>
                      </a:pPr>
                      <a:r>
                        <a:t>26</a:t>
                      </a:r>
                    </a:p>
                  </a:txBody>
                  <a:tcPr>
                    <a:solidFill>
                      <a:srgbClr val="0E1421"/>
                    </a:solidFill>
                  </a:tcPr>
                </a:tc>
                <a:tc>
                  <a:txBody>
                    <a:bodyPr/>
                    <a:lstStyle/>
                    <a:p>
                      <a:pPr>
                        <a:defRPr sz="850">
                          <a:solidFill>
                            <a:srgbClr val="F8FAFC"/>
                          </a:solidFill>
                          <a:latin typeface="Calibri"/>
                        </a:defRPr>
                      </a:pPr>
                      <a:r>
                        <a:t>Fire/Smoke Detection, where supported</a:t>
                      </a:r>
                    </a:p>
                  </a:txBody>
                  <a:tcPr>
                    <a:solidFill>
                      <a:srgbClr val="0E1421"/>
                    </a:solidFill>
                  </a:tcPr>
                </a:tc>
                <a:tc>
                  <a:txBody>
                    <a:bodyPr/>
                    <a:lstStyle/>
                    <a:p>
                      <a:pPr>
                        <a:defRPr sz="850">
                          <a:solidFill>
                            <a:srgbClr val="F8FAFC"/>
                          </a:solidFill>
                          <a:latin typeface="Calibri"/>
                        </a:defRPr>
                      </a:pPr>
                      <a:r>
                        <a:t>Safety Analytics</a:t>
                      </a:r>
                    </a:p>
                  </a:txBody>
                  <a:tcPr>
                    <a:solidFill>
                      <a:srgbClr val="0E1421"/>
                    </a:solidFill>
                  </a:tcPr>
                </a:tc>
                <a:tc>
                  <a:txBody>
                    <a:bodyPr/>
                    <a:lstStyle/>
                    <a:p>
                      <a:pPr>
                        <a:defRPr sz="850">
                          <a:solidFill>
                            <a:srgbClr val="F8FAFC"/>
                          </a:solidFill>
                          <a:latin typeface="Calibri"/>
                        </a:defRPr>
                      </a:pPr>
                      <a:r>
                        <a:t>Visually detects open flames and developing smoke plumes significantly faster than traditional spot detectors, especially in high-ceiling spaces.</a:t>
                      </a:r>
                    </a:p>
                  </a:txBody>
                  <a:tcPr>
                    <a:solidFill>
                      <a:srgbClr val="0E1421"/>
                    </a:solidFill>
                  </a:tcPr>
                </a:tc>
              </a:tr>
              <a:tr h="341376">
                <a:tc>
                  <a:txBody>
                    <a:bodyPr/>
                    <a:lstStyle/>
                    <a:p>
                      <a:pPr>
                        <a:defRPr sz="850">
                          <a:solidFill>
                            <a:srgbClr val="94A3B8"/>
                          </a:solidFill>
                          <a:latin typeface="Calibri"/>
                        </a:defRPr>
                      </a:pPr>
                      <a:r>
                        <a:t>27</a:t>
                      </a:r>
                    </a:p>
                  </a:txBody>
                  <a:tcPr>
                    <a:solidFill>
                      <a:srgbClr val="111827"/>
                    </a:solidFill>
                  </a:tcPr>
                </a:tc>
                <a:tc>
                  <a:txBody>
                    <a:bodyPr/>
                    <a:lstStyle/>
                    <a:p>
                      <a:pPr>
                        <a:defRPr sz="850">
                          <a:solidFill>
                            <a:srgbClr val="F8FAFC"/>
                          </a:solidFill>
                          <a:latin typeface="Calibri"/>
                        </a:defRPr>
                      </a:pPr>
                      <a:r>
                        <a:t>Vehicle/person tracking</a:t>
                      </a:r>
                    </a:p>
                  </a:txBody>
                  <a:tcPr>
                    <a:solidFill>
                      <a:srgbClr val="111827"/>
                    </a:solidFill>
                  </a:tcPr>
                </a:tc>
                <a:tc>
                  <a:txBody>
                    <a:bodyPr/>
                    <a:lstStyle/>
                    <a:p>
                      <a:pPr>
                        <a:defRPr sz="850">
                          <a:solidFill>
                            <a:srgbClr val="F8FAFC"/>
                          </a:solidFill>
                          <a:latin typeface="Calibri"/>
                        </a:defRPr>
                      </a:pPr>
                      <a:r>
                        <a:t>Tracking &amp; Behaviour</a:t>
                      </a:r>
                    </a:p>
                  </a:txBody>
                  <a:tcPr>
                    <a:solidFill>
                      <a:srgbClr val="111827"/>
                    </a:solidFill>
                  </a:tcPr>
                </a:tc>
                <a:tc>
                  <a:txBody>
                    <a:bodyPr/>
                    <a:lstStyle/>
                    <a:p>
                      <a:pPr>
                        <a:defRPr sz="850">
                          <a:solidFill>
                            <a:srgbClr val="F8FAFC"/>
                          </a:solidFill>
                          <a:latin typeface="Calibri"/>
                        </a:defRPr>
                      </a:pPr>
                      <a:r>
                        <a:t>Continuously follows and plots the real-time path of an individual or vehicle across camera fields of view or via motorized PTZ tracking.</a:t>
                      </a:r>
                    </a:p>
                  </a:txBody>
                  <a:tcPr>
                    <a:solidFill>
                      <a:srgbClr val="111827"/>
                    </a:solidFill>
                  </a:tcPr>
                </a:tc>
              </a:tr>
              <a:tr h="341376">
                <a:tc>
                  <a:txBody>
                    <a:bodyPr/>
                    <a:lstStyle/>
                    <a:p>
                      <a:pPr>
                        <a:defRPr sz="850">
                          <a:solidFill>
                            <a:srgbClr val="94A3B8"/>
                          </a:solidFill>
                          <a:latin typeface="Calibri"/>
                        </a:defRPr>
                      </a:pPr>
                      <a:r>
                        <a:t>28</a:t>
                      </a:r>
                    </a:p>
                  </a:txBody>
                  <a:tcPr>
                    <a:solidFill>
                      <a:srgbClr val="0E1421"/>
                    </a:solidFill>
                  </a:tcPr>
                </a:tc>
                <a:tc>
                  <a:txBody>
                    <a:bodyPr/>
                    <a:lstStyle/>
                    <a:p>
                      <a:pPr>
                        <a:defRPr sz="850">
                          <a:solidFill>
                            <a:srgbClr val="F8FAFC"/>
                          </a:solidFill>
                          <a:latin typeface="Calibri"/>
                        </a:defRPr>
                      </a:pPr>
                      <a:r>
                        <a:t>Behaviour/event-based analytics where legally and technically appropriate</a:t>
                      </a:r>
                    </a:p>
                  </a:txBody>
                  <a:tcPr>
                    <a:solidFill>
                      <a:srgbClr val="0E1421"/>
                    </a:solidFill>
                  </a:tcPr>
                </a:tc>
                <a:tc>
                  <a:txBody>
                    <a:bodyPr/>
                    <a:lstStyle/>
                    <a:p>
                      <a:pPr>
                        <a:defRPr sz="850">
                          <a:solidFill>
                            <a:srgbClr val="F8FAFC"/>
                          </a:solidFill>
                          <a:latin typeface="Calibri"/>
                        </a:defRPr>
                      </a:pPr>
                      <a:r>
                        <a:t>Tracking &amp; Behaviour</a:t>
                      </a:r>
                    </a:p>
                  </a:txBody>
                  <a:tcPr>
                    <a:solidFill>
                      <a:srgbClr val="0E1421"/>
                    </a:solidFill>
                  </a:tcPr>
                </a:tc>
                <a:tc>
                  <a:txBody>
                    <a:bodyPr/>
                    <a:lstStyle/>
                    <a:p>
                      <a:pPr>
                        <a:defRPr sz="850">
                          <a:solidFill>
                            <a:srgbClr val="F8FAFC"/>
                          </a:solidFill>
                          <a:latin typeface="Calibri"/>
                        </a:defRPr>
                      </a:pPr>
                      <a:r>
                        <a:t>Detects complex human actions and anomalous security incidents, such as fighting, running, distress gestures, or erratic movements.</a:t>
                      </a:r>
                    </a:p>
                  </a:txBody>
                  <a:tcPr>
                    <a:solidFill>
                      <a:srgbClr val="0E1421"/>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822960"/>
          </a:xfrm>
          <a:prstGeom prst="rect">
            <a:avLst/>
          </a:prstGeom>
          <a:noFill/>
        </p:spPr>
        <p:txBody>
          <a:bodyPr wrap="square">
            <a:spAutoFit/>
          </a:bodyPr>
          <a:lstStyle/>
          <a:p>
            <a:pPr>
              <a:defRPr sz="1050" b="1">
                <a:solidFill>
                  <a:srgbClr val="00E5FF"/>
                </a:solidFill>
                <a:latin typeface="Arial"/>
              </a:defRPr>
            </a:pPr>
            <a:r>
              <a:t>RESEARCH METHODOLOGY &amp; GOVERNANCE</a:t>
            </a:r>
          </a:p>
          <a:p>
            <a:pPr>
              <a:defRPr sz="2200" b="1">
                <a:solidFill>
                  <a:srgbClr val="F8FAFC"/>
                </a:solidFill>
                <a:latin typeface="Arial"/>
              </a:defRPr>
            </a:pPr>
            <a:r>
              <a:t>Verified Sources &amp; Presentation Disclaimer</a:t>
            </a:r>
          </a:p>
        </p:txBody>
      </p:sp>
      <p:sp>
        <p:nvSpPr>
          <p:cNvPr id="4" name="Rounded Rectangle 3"/>
          <p:cNvSpPr/>
          <p:nvPr/>
        </p:nvSpPr>
        <p:spPr>
          <a:xfrm>
            <a:off x="731520" y="1325880"/>
            <a:ext cx="10728655" cy="201168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E5FF"/>
                </a:solidFill>
                <a:latin typeface="Arial"/>
              </a:defRPr>
            </a:pPr>
            <a:r>
              <a:t>PRIMARY TECHNOLOGY MANUFACTURERS &amp; REFERENCE SOURCES</a:t>
            </a:r>
          </a:p>
          <a:p>
            <a:pPr>
              <a:spcAft>
                <a:spcPts val="300"/>
              </a:spcAft>
              <a:defRPr sz="1000">
                <a:solidFill>
                  <a:srgbClr val="F8FAFC"/>
                </a:solidFill>
                <a:latin typeface="Calibri"/>
              </a:defRPr>
            </a:pPr>
            <a:r>
              <a:t>•  Axis Communications — AXIS Object Analytics, AXIS Face Detector, AXIS Perimeter Defender, AXIS People Counter</a:t>
            </a:r>
          </a:p>
          <a:p>
            <a:pPr>
              <a:spcAft>
                <a:spcPts val="300"/>
              </a:spcAft>
              <a:defRPr sz="1000">
                <a:solidFill>
                  <a:srgbClr val="F8FAFC"/>
                </a:solidFill>
                <a:latin typeface="Calibri"/>
              </a:defRPr>
            </a:pPr>
            <a:r>
              <a:t>•  Hikvision Digital Technology — Hikvision AcuSense Series, HikCentral Professional, ColorVu, Thermal Fire Detection</a:t>
            </a:r>
          </a:p>
          <a:p>
            <a:pPr>
              <a:spcAft>
                <a:spcPts val="300"/>
              </a:spcAft>
              <a:defRPr sz="1000">
                <a:solidFill>
                  <a:srgbClr val="F8FAFC"/>
                </a:solidFill>
                <a:latin typeface="Calibri"/>
              </a:defRPr>
            </a:pPr>
            <a:r>
              <a:t>•  Dahua Technology — Dahua WizSense, WizMind Series, IVS Intelligent Video Surveillance, TiOC Active Deterrence</a:t>
            </a:r>
          </a:p>
          <a:p>
            <a:pPr>
              <a:spcAft>
                <a:spcPts val="300"/>
              </a:spcAft>
              <a:defRPr sz="1000">
                <a:solidFill>
                  <a:srgbClr val="F8FAFC"/>
                </a:solidFill>
                <a:latin typeface="Calibri"/>
              </a:defRPr>
            </a:pPr>
            <a:r>
              <a:t>•  Hanwha Vision / Wisenet — Hanwha AI Cameras, Direction Detection, Slip &amp; Fall Detection, Defocus Detection</a:t>
            </a:r>
          </a:p>
          <a:p>
            <a:pPr>
              <a:spcAft>
                <a:spcPts val="300"/>
              </a:spcAft>
              <a:defRPr sz="1000">
                <a:solidFill>
                  <a:srgbClr val="F8FAFC"/>
                </a:solidFill>
                <a:latin typeface="Calibri"/>
              </a:defRPr>
            </a:pPr>
            <a:r>
              <a:t>•  Bosch Security Systems — Bosch Intelligent Video Analytics (IVA), Removed Object Detection, Wrong-Way Movement Analytics</a:t>
            </a:r>
          </a:p>
          <a:p>
            <a:pPr>
              <a:spcAft>
                <a:spcPts val="300"/>
              </a:spcAft>
              <a:defRPr sz="1000">
                <a:solidFill>
                  <a:srgbClr val="F8FAFC"/>
                </a:solidFill>
                <a:latin typeface="Calibri"/>
              </a:defRPr>
            </a:pPr>
            <a:r>
              <a:t>•  BriefCam &amp; Milestone Systems — Crowd Density &amp; Occupancy Synopses, XProtect Video Management Integration</a:t>
            </a:r>
          </a:p>
        </p:txBody>
      </p:sp>
      <p:sp>
        <p:nvSpPr>
          <p:cNvPr id="5" name="Rounded Rectangle 4"/>
          <p:cNvSpPr/>
          <p:nvPr/>
        </p:nvSpPr>
        <p:spPr>
          <a:xfrm>
            <a:off x="731520" y="3520440"/>
            <a:ext cx="10728655" cy="2651760"/>
          </a:xfrm>
          <a:prstGeom prst="roundRect">
            <a:avLst/>
          </a:prstGeom>
          <a:solidFill>
            <a:srgbClr val="12162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59E0B"/>
                </a:solidFill>
                <a:latin typeface="Arial"/>
              </a:defRPr>
            </a:pPr>
            <a:r>
              <a:t>OFFICIAL PRESENTATION DISCLAIMER &amp; REGULATORY COMPLIANCE</a:t>
            </a:r>
          </a:p>
          <a:p>
            <a:pPr>
              <a:defRPr sz="950">
                <a:solidFill>
                  <a:srgbClr val="F8FAFC"/>
                </a:solidFill>
                <a:latin typeface="Calibri"/>
              </a:defRPr>
            </a:pPr>
            <a:r>
              <a:t>AI analytics capabilities, accuracy and availability vary by camera, software platform, scene conditions and deployment configuration. Certain analytics, particularly face recognition and behaviour analysis, may also be subject to legal, privacy and regulatory requirements.</a:t>
            </a:r>
            <a:br/>
            <a:br/>
            <a:r>
              <a:t>Key Deployment Considerations:</a:t>
            </a:r>
            <a:br/>
            <a:r>
              <a:t>1. Environmental Factors: Detection accuracy depends on illumination, optical sensor quality, target distance, mounting height, and weather conditions.</a:t>
            </a:r>
            <a:br/>
            <a:r>
              <a:t>2. Biometric Compliance: Face recognition and individual identification require compliance with GDPR, BIPA, CCPA, and statutory privacy laws.</a:t>
            </a:r>
            <a:br/>
            <a:r>
              <a:t>3. Life Safety Systems: Video-based fire, smoke, and fall detection act as early operational warnings and must supplement rather than replace certified, statutory life-safety systems.</a:t>
            </a:r>
            <a:br/>
            <a:r>
              <a:t>4. Active Hyperlinks: All demonstration video links embedded in this presentation point to publicly available, verified manufacturer and technical demonstration videos.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